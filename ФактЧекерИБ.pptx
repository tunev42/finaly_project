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72" r:id="rId12"/>
    <p:sldId id="269" r:id="rId13"/>
    <p:sldId id="271" r:id="rId14"/>
    <p:sldId id="268" r:id="rId1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45" y="72"/>
      </p:cViewPr>
      <p:guideLst>
        <p:guide orient="horz" pos="2159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 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44780"/>
            <a:ext cx="9144000" cy="1886585"/>
          </a:xfrm>
        </p:spPr>
        <p:txBody>
          <a:bodyPr>
            <a:normAutofit/>
          </a:bodyPr>
          <a:lstStyle/>
          <a:p>
            <a:r>
              <a:rPr lang="en-US" altLang="en-US" sz="4445"/>
              <a:t>ФактЧекер</a:t>
            </a:r>
            <a:r>
              <a:rPr lang="en-US" altLang="ru-RU" sz="4445"/>
              <a:t> — </a:t>
            </a:r>
            <a:r>
              <a:rPr lang="en-US" altLang="en-US" sz="4445"/>
              <a:t>система</a:t>
            </a:r>
            <a:r>
              <a:rPr lang="en-US" altLang="ru-RU" sz="4445"/>
              <a:t> </a:t>
            </a:r>
            <a:r>
              <a:rPr lang="en-US" altLang="en-US" sz="4445"/>
              <a:t>проверки</a:t>
            </a:r>
            <a:r>
              <a:rPr lang="en-US" altLang="ru-RU" sz="4445"/>
              <a:t> </a:t>
            </a:r>
            <a:r>
              <a:rPr lang="en-US" altLang="en-US" sz="4445"/>
              <a:t>достоверности</a:t>
            </a:r>
            <a:r>
              <a:rPr lang="en-US" altLang="ru-RU" sz="4445"/>
              <a:t> </a:t>
            </a:r>
            <a:r>
              <a:rPr lang="en-US" altLang="en-US" sz="4445"/>
              <a:t>новостей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2246313"/>
            <a:ext cx="9144000" cy="1655762"/>
          </a:xfrm>
        </p:spPr>
        <p:txBody>
          <a:bodyPr>
            <a:normAutofit fontScale="92500"/>
          </a:bodyPr>
          <a:lstStyle/>
          <a:p>
            <a:r>
              <a:rPr lang="ru-RU" altLang="en-US" dirty="0" err="1"/>
              <a:t>Тунёв</a:t>
            </a:r>
            <a:r>
              <a:rPr lang="ru-RU" altLang="en-US" dirty="0"/>
              <a:t> Константин</a:t>
            </a:r>
          </a:p>
          <a:p>
            <a:br>
              <a:rPr lang="ru-RU" altLang="en-US" dirty="0"/>
            </a:br>
            <a:r>
              <a:rPr lang="en-US" altLang="en-US" dirty="0" err="1"/>
              <a:t>Данная</a:t>
            </a:r>
            <a:r>
              <a:rPr lang="en-US" altLang="ru-RU" dirty="0"/>
              <a:t> </a:t>
            </a:r>
            <a:r>
              <a:rPr lang="en-US" altLang="en-US" dirty="0" err="1"/>
              <a:t>презентация</a:t>
            </a:r>
            <a:r>
              <a:rPr lang="en-US" altLang="ru-RU" dirty="0"/>
              <a:t> </a:t>
            </a:r>
            <a:r>
              <a:rPr lang="en-US" altLang="en-US" dirty="0" err="1"/>
              <a:t>предназначена</a:t>
            </a:r>
            <a:r>
              <a:rPr lang="en-US" altLang="ru-RU" dirty="0"/>
              <a:t> </a:t>
            </a:r>
            <a:r>
              <a:rPr lang="en-US" altLang="en-US" dirty="0" err="1"/>
              <a:t>для</a:t>
            </a:r>
            <a:r>
              <a:rPr lang="en-US" altLang="ru-RU" dirty="0"/>
              <a:t> </a:t>
            </a:r>
            <a:r>
              <a:rPr lang="en-US" altLang="en-US" dirty="0"/>
              <a:t>Информационной</a:t>
            </a:r>
            <a:r>
              <a:rPr lang="en-US" altLang="ru-RU" dirty="0"/>
              <a:t> </a:t>
            </a:r>
            <a:r>
              <a:rPr lang="en-US" altLang="en-US" dirty="0"/>
              <a:t>безопасности</a:t>
            </a:r>
            <a:r>
              <a:rPr lang="en-US" altLang="ru-RU" dirty="0"/>
              <a:t>. </a:t>
            </a:r>
            <a:r>
              <a:rPr lang="en-US" altLang="en-US" dirty="0"/>
              <a:t>В</a:t>
            </a:r>
            <a:r>
              <a:rPr lang="en-US" altLang="ru-RU" dirty="0"/>
              <a:t> </a:t>
            </a:r>
            <a:r>
              <a:rPr lang="en-US" altLang="en-US" dirty="0" err="1"/>
              <a:t>ней</a:t>
            </a:r>
            <a:r>
              <a:rPr lang="en-US" altLang="ru-RU" dirty="0"/>
              <a:t> </a:t>
            </a:r>
            <a:r>
              <a:rPr lang="en-US" altLang="en-US" dirty="0" err="1"/>
              <a:t>будет</a:t>
            </a:r>
            <a:r>
              <a:rPr lang="en-US" altLang="ru-RU" dirty="0"/>
              <a:t> </a:t>
            </a:r>
            <a:r>
              <a:rPr lang="en-US" altLang="en-US" dirty="0" err="1"/>
              <a:t>рассказываться</a:t>
            </a:r>
            <a:r>
              <a:rPr lang="en-US" altLang="ru-RU" dirty="0"/>
              <a:t> </a:t>
            </a:r>
            <a:r>
              <a:rPr lang="en-US" altLang="en-US" dirty="0"/>
              <a:t>о</a:t>
            </a:r>
            <a:r>
              <a:rPr lang="en-US" altLang="ru-RU" dirty="0"/>
              <a:t> </a:t>
            </a:r>
            <a:r>
              <a:rPr lang="en-US" altLang="en-US" dirty="0" err="1"/>
              <a:t>функциях</a:t>
            </a:r>
            <a:r>
              <a:rPr lang="en-US" altLang="ru-RU" dirty="0"/>
              <a:t> </a:t>
            </a:r>
            <a:r>
              <a:rPr lang="en-US" altLang="en-US" dirty="0"/>
              <a:t>информационной</a:t>
            </a:r>
            <a:r>
              <a:rPr lang="en-US" altLang="ru-RU" dirty="0"/>
              <a:t> </a:t>
            </a:r>
            <a:r>
              <a:rPr lang="en-US" altLang="en-US" dirty="0"/>
              <a:t>безопасности</a:t>
            </a:r>
            <a:r>
              <a:rPr lang="en-US" altLang="ru-RU" dirty="0"/>
              <a:t>.</a:t>
            </a:r>
          </a:p>
        </p:txBody>
      </p:sp>
      <p:pic>
        <p:nvPicPr>
          <p:cNvPr id="4" name="Изображение 3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3615690"/>
            <a:ext cx="3697605" cy="3136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Проблема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altLang="en-US" dirty="0"/>
              <a:t>На данный момент в интернете очень много фейковых новостей.</a:t>
            </a:r>
            <a:r>
              <a:rPr lang="en-US" altLang="en-US" dirty="0"/>
              <a:t> </a:t>
            </a:r>
            <a:r>
              <a:rPr lang="ru-RU" altLang="en-US" dirty="0"/>
              <a:t>Так же фейки могут влиять и на решения правительства. Обычный человек не всегда может отличить правду от лжи. </a:t>
            </a:r>
          </a:p>
        </p:txBody>
      </p:sp>
      <p:pic>
        <p:nvPicPr>
          <p:cNvPr id="4" name="Изображение 3"/>
          <p:cNvPicPr/>
          <p:nvPr/>
        </p:nvPicPr>
        <p:blipFill>
          <a:blip r:embed="rId2"/>
          <a:stretch>
            <a:fillRect/>
          </a:stretch>
        </p:blipFill>
        <p:spPr>
          <a:xfrm>
            <a:off x="214604" y="3761533"/>
            <a:ext cx="5791835" cy="2984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Актуальность для РФ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altLang="en-US" dirty="0"/>
              <a:t>В 2016 году была принята Доктрина </a:t>
            </a:r>
            <a:r>
              <a:rPr lang="en-US" altLang="en-US" dirty="0"/>
              <a:t>информационной</a:t>
            </a:r>
            <a:r>
              <a:rPr lang="en-US" altLang="ru-RU" dirty="0"/>
              <a:t> </a:t>
            </a:r>
            <a:r>
              <a:rPr lang="en-US" altLang="en-US" dirty="0"/>
              <a:t>безопасности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. Есть законы против недостоверных новостей (</a:t>
            </a:r>
            <a:r>
              <a:rPr lang="en-US" altLang="en-US" dirty="0"/>
              <a:t>ФЗ</a:t>
            </a:r>
            <a:r>
              <a:rPr lang="en-US" altLang="ru-RU" dirty="0"/>
              <a:t>-212, </a:t>
            </a:r>
            <a:r>
              <a:rPr lang="en-US" altLang="en-US" dirty="0"/>
              <a:t>ФЗ</a:t>
            </a:r>
            <a:r>
              <a:rPr lang="en-US" altLang="ru-RU" dirty="0"/>
              <a:t>-149</a:t>
            </a:r>
            <a:r>
              <a:rPr lang="ru-RU" altLang="en-US" dirty="0"/>
              <a:t>). И мой проект помогает выполнить эти требования</a:t>
            </a:r>
            <a:r>
              <a:rPr lang="en-US" altLang="en-US" dirty="0"/>
              <a:t>.</a:t>
            </a:r>
            <a:endParaRPr lang="ru-RU" altLang="en-US" dirty="0"/>
          </a:p>
        </p:txBody>
      </p:sp>
      <p:pic>
        <p:nvPicPr>
          <p:cNvPr id="4" name="Изображение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24430" y="3736340"/>
            <a:ext cx="2397125" cy="3121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0"/>
            <a:ext cx="10515600" cy="935355"/>
          </a:xfrm>
        </p:spPr>
        <p:txBody>
          <a:bodyPr/>
          <a:lstStyle/>
          <a:p>
            <a:r>
              <a:rPr lang="ru-RU" altLang="en-US"/>
              <a:t>Какие функции выболняет ФактЧекер</a:t>
            </a:r>
          </a:p>
        </p:txBody>
      </p:sp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1996752" y="1026367"/>
            <a:ext cx="6811346" cy="41460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злоупотреблений</a:t>
            </a:r>
            <a:r>
              <a:rPr lang="en-US" altLang="ru-RU"/>
              <a:t> (</a:t>
            </a:r>
            <a:r>
              <a:rPr lang="en-US" altLang="en-US"/>
              <a:t>токены</a:t>
            </a:r>
            <a:r>
              <a:rPr lang="en-US" altLang="ru-RU"/>
              <a:t>)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581025" y="1365885"/>
            <a:ext cx="10515600" cy="4351338"/>
          </a:xfrm>
        </p:spPr>
        <p:txBody>
          <a:bodyPr/>
          <a:lstStyle/>
          <a:p>
            <a:r>
              <a:rPr lang="ru-RU" altLang="en-US"/>
              <a:t>Против  спам</a:t>
            </a:r>
            <a:r>
              <a:rPr lang="en-US" altLang="ru-RU"/>
              <a:t> </a:t>
            </a:r>
            <a:r>
              <a:rPr lang="ru-RU" altLang="en-US"/>
              <a:t>-</a:t>
            </a:r>
            <a:r>
              <a:rPr lang="en-US" altLang="ru-RU"/>
              <a:t> </a:t>
            </a:r>
            <a:r>
              <a:rPr lang="ru-RU" altLang="en-US"/>
              <a:t>атак в</a:t>
            </a:r>
            <a:r>
              <a:rPr lang="en-US" altLang="en-US"/>
              <a:t>ведены</a:t>
            </a:r>
            <a:r>
              <a:rPr lang="en-US" altLang="ru-RU"/>
              <a:t> </a:t>
            </a:r>
            <a:r>
              <a:rPr lang="en-US" altLang="en-US"/>
              <a:t>лимиты</a:t>
            </a:r>
            <a:r>
              <a:rPr lang="ru-RU" altLang="en-US"/>
              <a:t>. </a:t>
            </a:r>
          </a:p>
          <a:p>
            <a:r>
              <a:rPr lang="ru-RU" altLang="en-US"/>
              <a:t>О</a:t>
            </a:r>
            <a:r>
              <a:rPr lang="en-US" altLang="en-US"/>
              <a:t>бычный</a:t>
            </a:r>
            <a:r>
              <a:rPr lang="en-US" altLang="ru-RU"/>
              <a:t> </a:t>
            </a:r>
            <a:r>
              <a:rPr lang="en-US" altLang="en-US"/>
              <a:t>пользователь</a:t>
            </a:r>
            <a:r>
              <a:rPr lang="ru-RU" altLang="en-US"/>
              <a:t>-</a:t>
            </a:r>
            <a:r>
              <a:rPr lang="en-US" altLang="ru-RU"/>
              <a:t>5 </a:t>
            </a:r>
            <a:r>
              <a:rPr lang="en-US" altLang="en-US"/>
              <a:t>проверок</a:t>
            </a:r>
            <a:r>
              <a:rPr lang="en-US" altLang="ru-RU"/>
              <a:t>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день</a:t>
            </a:r>
          </a:p>
          <a:p>
            <a:r>
              <a:rPr lang="ru-RU" altLang="en-US"/>
              <a:t>Премиум пользователь</a:t>
            </a:r>
            <a:r>
              <a:rPr lang="en-US" altLang="en-US"/>
              <a:t>/</a:t>
            </a:r>
            <a:r>
              <a:rPr lang="ru-RU" altLang="en-US"/>
              <a:t>админ-безлимит.</a:t>
            </a:r>
          </a:p>
          <a:p>
            <a:r>
              <a:rPr lang="ru-RU" altLang="en-US"/>
              <a:t>Это защищает сервер от </a:t>
            </a:r>
            <a:r>
              <a:rPr lang="en-US" altLang="en-US"/>
              <a:t>DoS -</a:t>
            </a:r>
            <a:r>
              <a:rPr lang="ru-RU" altLang="en-US"/>
              <a:t> атак и перегрузок.</a:t>
            </a:r>
            <a:endParaRPr lang="en-US" altLang="en-US"/>
          </a:p>
        </p:txBody>
      </p:sp>
      <p:pic>
        <p:nvPicPr>
          <p:cNvPr id="4" name="Изображение 3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3514725"/>
            <a:ext cx="5962650" cy="3409950"/>
          </a:xfrm>
          <a:prstGeom prst="rect">
            <a:avLst/>
          </a:prstGeom>
        </p:spPr>
      </p:pic>
      <p:pic>
        <p:nvPicPr>
          <p:cNvPr id="5" name="Изображение 4"/>
          <p:cNvPicPr/>
          <p:nvPr/>
        </p:nvPicPr>
        <p:blipFill>
          <a:blip r:embed="rId3"/>
          <a:stretch>
            <a:fillRect/>
          </a:stretch>
        </p:blipFill>
        <p:spPr>
          <a:xfrm>
            <a:off x="5962015" y="3515360"/>
            <a:ext cx="6229985" cy="3342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Р</a:t>
            </a:r>
            <a:r>
              <a:rPr lang="en-US" altLang="en-US"/>
              <a:t>егистрация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роли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altLang="en-US"/>
              <a:t>Для пользования сервером нужна регистрация.</a:t>
            </a:r>
            <a:br>
              <a:rPr lang="ru-RU" altLang="en-US"/>
            </a:br>
            <a:r>
              <a:rPr lang="ru-RU" altLang="en-US"/>
              <a:t>Есть три роли:</a:t>
            </a:r>
            <a:br>
              <a:rPr lang="ru-RU" altLang="en-US"/>
            </a:br>
            <a:r>
              <a:rPr lang="ru-RU" altLang="en-US"/>
              <a:t>1) Пользователь (5 проверок в день)</a:t>
            </a:r>
          </a:p>
          <a:p>
            <a:r>
              <a:rPr lang="ru-RU" altLang="en-US"/>
              <a:t>2) Премиум (безлимит)</a:t>
            </a:r>
          </a:p>
          <a:p>
            <a:r>
              <a:rPr lang="ru-RU" altLang="en-US"/>
              <a:t>3) Админ (безлимит + управление)</a:t>
            </a:r>
          </a:p>
        </p:txBody>
      </p:sp>
      <p:pic>
        <p:nvPicPr>
          <p:cNvPr id="4" name="Изображение 3"/>
          <p:cNvPicPr/>
          <p:nvPr/>
        </p:nvPicPr>
        <p:blipFill>
          <a:blip r:embed="rId2"/>
          <a:stretch>
            <a:fillRect/>
          </a:stretch>
        </p:blipFill>
        <p:spPr>
          <a:xfrm>
            <a:off x="6419850" y="2766060"/>
            <a:ext cx="5772150" cy="40919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en-US"/>
              <a:t>Алгоритм </a:t>
            </a:r>
            <a:r>
              <a:rPr lang="en-US" altLang="en-US"/>
              <a:t>проверк</a:t>
            </a:r>
            <a:r>
              <a:rPr lang="ru-RU" altLang="en-US"/>
              <a:t>и</a:t>
            </a:r>
          </a:p>
        </p:txBody>
      </p:sp>
      <p:pic>
        <p:nvPicPr>
          <p:cNvPr id="5" name="Изображение 4" descr="diagram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5" y="2240915"/>
            <a:ext cx="10862310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Пример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ru-RU" altLang="en-US"/>
              <a:t>: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Ввод</a:t>
            </a:r>
            <a:r>
              <a:rPr lang="en-US" altLang="ru-RU"/>
              <a:t>: "</a:t>
            </a:r>
            <a:r>
              <a:rPr lang="en-US" altLang="en-US"/>
              <a:t>Площадь</a:t>
            </a:r>
            <a:r>
              <a:rPr lang="en-US" altLang="ru-RU"/>
              <a:t> </a:t>
            </a:r>
            <a:r>
              <a:rPr lang="en-US" altLang="en-US"/>
              <a:t>России</a:t>
            </a:r>
            <a:r>
              <a:rPr lang="en-US" altLang="ru-RU"/>
              <a:t> 17,2 </a:t>
            </a:r>
            <a:r>
              <a:rPr lang="en-US" altLang="en-US"/>
              <a:t>млн</a:t>
            </a:r>
            <a:r>
              <a:rPr lang="en-US" altLang="ru-RU"/>
              <a:t> </a:t>
            </a:r>
            <a:r>
              <a:rPr lang="en-US" altLang="en-US"/>
              <a:t>кв</a:t>
            </a:r>
            <a:r>
              <a:rPr lang="en-US" altLang="ru-RU"/>
              <a:t>. </a:t>
            </a:r>
            <a:r>
              <a:rPr lang="en-US" altLang="en-US"/>
              <a:t>км</a:t>
            </a:r>
            <a:r>
              <a:rPr lang="en-US" altLang="ru-RU"/>
              <a:t>"</a:t>
            </a:r>
          </a:p>
          <a:p>
            <a:r>
              <a:rPr lang="en-US" altLang="en-US"/>
              <a:t>Результат</a:t>
            </a:r>
            <a:r>
              <a:rPr lang="en-US" altLang="ru-RU"/>
              <a:t>:</a:t>
            </a:r>
          </a:p>
          <a:p>
            <a:pPr lvl="1"/>
            <a:r>
              <a:rPr lang="en-US" altLang="en-US"/>
              <a:t>Вердикт</a:t>
            </a:r>
            <a:r>
              <a:rPr lang="en-US" altLang="ru-RU"/>
              <a:t>: </a:t>
            </a:r>
            <a:r>
              <a:rPr lang="en-US" altLang="en-US"/>
              <a:t>ТРЕБУЕТСЯ</a:t>
            </a:r>
            <a:r>
              <a:rPr lang="en-US" altLang="ru-RU"/>
              <a:t> </a:t>
            </a:r>
            <a:r>
              <a:rPr lang="en-US" altLang="en-US"/>
              <a:t>ПРОВЕРКА</a:t>
            </a:r>
            <a:endParaRPr lang="en-US" altLang="ru-RU"/>
          </a:p>
          <a:p>
            <a:pPr lvl="1"/>
            <a:r>
              <a:rPr lang="en-US" altLang="en-US"/>
              <a:t>Уверенность</a:t>
            </a:r>
            <a:r>
              <a:rPr lang="en-US" altLang="ru-RU"/>
              <a:t>: 50%</a:t>
            </a:r>
          </a:p>
          <a:p>
            <a:pPr lvl="1"/>
            <a:r>
              <a:rPr lang="en-US" altLang="en-US"/>
              <a:t>Источник</a:t>
            </a:r>
            <a:r>
              <a:rPr lang="en-US" altLang="ru-RU"/>
              <a:t>: </a:t>
            </a:r>
            <a:r>
              <a:rPr lang="en-US" altLang="en-US"/>
              <a:t>ТАСС</a:t>
            </a:r>
          </a:p>
          <a:p>
            <a:pPr marL="0" lvl="1" indent="0">
              <a:buNone/>
            </a:pPr>
            <a:r>
              <a:rPr lang="en-US" altLang="en-US" sz="2800">
                <a:sym typeface="+mn-ea"/>
              </a:rPr>
              <a:t>Почему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не</a:t>
            </a:r>
            <a:r>
              <a:rPr lang="en-US" altLang="ru-RU" sz="2800">
                <a:sym typeface="+mn-ea"/>
              </a:rPr>
              <a:t> 100%? </a:t>
            </a:r>
            <a:r>
              <a:rPr lang="en-US" altLang="en-US" sz="2800">
                <a:sym typeface="+mn-ea"/>
              </a:rPr>
              <a:t>Потому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что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нужны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ещё</a:t>
            </a:r>
            <a:r>
              <a:rPr lang="en-US" altLang="ru-RU" sz="2800">
                <a:sym typeface="+mn-ea"/>
              </a:rPr>
              <a:t> </a:t>
            </a:r>
            <a:r>
              <a:rPr lang="en-US" altLang="en-US" sz="2800">
                <a:sym typeface="+mn-ea"/>
              </a:rPr>
              <a:t>подтверждения</a:t>
            </a:r>
            <a:r>
              <a:rPr lang="ru-RU" altLang="en-US" sz="2800">
                <a:sym typeface="+mn-ea"/>
              </a:rPr>
              <a:t>, так как он нашёл только 1 источник, а не 2.</a:t>
            </a:r>
            <a:endParaRPr lang="en-US" altLang="en-US" sz="2800"/>
          </a:p>
          <a:p>
            <a:endParaRPr lang="en-US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98110"/>
            <a:ext cx="6242050" cy="120269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225" y="4633595"/>
            <a:ext cx="6200775" cy="23310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Соответствие</a:t>
            </a:r>
            <a:r>
              <a:rPr lang="en-US" altLang="ru-RU"/>
              <a:t> </a:t>
            </a:r>
            <a:r>
              <a:rPr lang="en-US" altLang="en-US"/>
              <a:t>политик</a:t>
            </a:r>
            <a:r>
              <a:rPr lang="ru-RU" altLang="en-US"/>
              <a:t>и</a:t>
            </a:r>
            <a:r>
              <a:rPr lang="en-US" altLang="ru-RU"/>
              <a:t> </a:t>
            </a:r>
            <a:r>
              <a:rPr lang="en-US" altLang="en-US"/>
              <a:t>РФ</a:t>
            </a:r>
            <a:r>
              <a:rPr lang="en-US" altLang="ru-RU"/>
              <a:t>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области</a:t>
            </a:r>
            <a:r>
              <a:rPr lang="en-US" altLang="ru-RU"/>
              <a:t> </a:t>
            </a:r>
            <a:r>
              <a:rPr lang="en-US" altLang="en-US"/>
              <a:t>ИБ</a:t>
            </a:r>
          </a:p>
        </p:txBody>
      </p:sp>
      <p:sp>
        <p:nvSpPr>
          <p:cNvPr id="5" name="Замещающий 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altLang="en-US"/>
              <a:t>Требовани</a:t>
            </a:r>
            <a:r>
              <a:rPr lang="ru-RU" altLang="en-US"/>
              <a:t>я:</a:t>
            </a:r>
          </a:p>
        </p:txBody>
      </p:sp>
      <p:sp>
        <p:nvSpPr>
          <p:cNvPr id="6" name="Замещающее содержимое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altLang="en-US"/>
              <a:t>1)</a:t>
            </a:r>
            <a:r>
              <a:rPr lang="en-US" altLang="en-US"/>
              <a:t>Борьба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фейками</a:t>
            </a:r>
            <a:r>
              <a:rPr lang="en-US" altLang="ru-RU"/>
              <a:t> (</a:t>
            </a:r>
            <a:r>
              <a:rPr lang="en-US" altLang="en-US"/>
              <a:t>ФЗ</a:t>
            </a:r>
            <a:r>
              <a:rPr lang="en-US" altLang="ru-RU"/>
              <a:t>-212)</a:t>
            </a:r>
            <a:r>
              <a:rPr lang="ru-RU" altLang="en-US"/>
              <a:t>.</a:t>
            </a:r>
            <a:endParaRPr lang="en-US" altLang="ru-RU"/>
          </a:p>
          <a:p>
            <a:r>
              <a:rPr lang="ru-RU" altLang="en-US"/>
              <a:t>2)</a:t>
            </a:r>
            <a:r>
              <a:rPr lang="en-US" altLang="en-US"/>
              <a:t>Только</a:t>
            </a:r>
            <a:r>
              <a:rPr lang="en-US" altLang="ru-RU"/>
              <a:t> </a:t>
            </a:r>
            <a:r>
              <a:rPr lang="ru-RU" altLang="en-US"/>
              <a:t>достоверные, отечественные</a:t>
            </a:r>
            <a:r>
              <a:rPr lang="en-US" altLang="ru-RU"/>
              <a:t> </a:t>
            </a:r>
            <a:r>
              <a:rPr lang="en-US" altLang="en-US"/>
              <a:t>источники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3)</a:t>
            </a:r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атак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4)</a:t>
            </a:r>
            <a:r>
              <a:rPr lang="en-US" altLang="en-US"/>
              <a:t>Импортозамещение</a:t>
            </a:r>
            <a:r>
              <a:rPr lang="ru-RU" altLang="en-US"/>
              <a:t>.</a:t>
            </a:r>
          </a:p>
        </p:txBody>
      </p:sp>
      <p:sp>
        <p:nvSpPr>
          <p:cNvPr id="7" name="Замещающий текст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altLang="en-US"/>
              <a:t>Как</a:t>
            </a:r>
            <a:r>
              <a:rPr lang="en-US" altLang="ru-RU"/>
              <a:t> </a:t>
            </a:r>
            <a:r>
              <a:rPr lang="en-US" altLang="en-US"/>
              <a:t>реализован</a:t>
            </a:r>
            <a:r>
              <a:rPr lang="ru-RU" altLang="en-US"/>
              <a:t>ы:</a:t>
            </a:r>
          </a:p>
        </p:txBody>
      </p:sp>
      <p:sp>
        <p:nvSpPr>
          <p:cNvPr id="8" name="Замещающее содержимое 7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ru-RU" altLang="en-US"/>
              <a:t>1)</a:t>
            </a:r>
            <a:r>
              <a:rPr lang="en-US" altLang="en-US"/>
              <a:t>Автоматическая</a:t>
            </a:r>
            <a:r>
              <a:rPr lang="en-US" altLang="ru-RU"/>
              <a:t> </a:t>
            </a:r>
            <a:r>
              <a:rPr lang="en-US" altLang="en-US"/>
              <a:t>проверка</a:t>
            </a:r>
            <a:r>
              <a:rPr lang="en-US" altLang="ru-RU"/>
              <a:t> </a:t>
            </a:r>
            <a:r>
              <a:rPr lang="en-US" altLang="en-US"/>
              <a:t>новостей</a:t>
            </a:r>
            <a:r>
              <a:rPr lang="ru-RU" altLang="en-US"/>
              <a:t>.</a:t>
            </a:r>
          </a:p>
          <a:p>
            <a:r>
              <a:rPr lang="ru-RU" altLang="en-US"/>
              <a:t>2)</a:t>
            </a:r>
            <a:r>
              <a:rPr lang="en-US" altLang="en-US"/>
              <a:t>Белый</a:t>
            </a:r>
            <a:r>
              <a:rPr lang="en-US" altLang="ru-RU"/>
              <a:t> </a:t>
            </a:r>
            <a:r>
              <a:rPr lang="en-US" altLang="en-US"/>
              <a:t>список</a:t>
            </a:r>
            <a:r>
              <a:rPr lang="en-US" altLang="ru-RU"/>
              <a:t> </a:t>
            </a:r>
            <a:r>
              <a:rPr lang="en-US" altLang="en-US"/>
              <a:t>сайтов</a:t>
            </a:r>
            <a:r>
              <a:rPr lang="en-US" altLang="ru-RU"/>
              <a:t> (.gov.ru, </a:t>
            </a:r>
            <a:r>
              <a:rPr lang="ru-RU" altLang="en-US"/>
              <a:t>.</a:t>
            </a:r>
            <a:r>
              <a:rPr lang="en-US" altLang="ru-RU"/>
              <a:t>tass.ru)</a:t>
            </a:r>
            <a:r>
              <a:rPr lang="ru-RU" altLang="en-US"/>
              <a:t>.</a:t>
            </a:r>
            <a:endParaRPr lang="en-US" altLang="ru-RU"/>
          </a:p>
          <a:p>
            <a:r>
              <a:rPr lang="ru-RU" altLang="en-US"/>
              <a:t>3)</a:t>
            </a:r>
            <a:r>
              <a:rPr lang="en-US" altLang="en-US"/>
              <a:t>Лимиты</a:t>
            </a:r>
            <a:r>
              <a:rPr lang="en-US" altLang="ru-RU"/>
              <a:t>(</a:t>
            </a:r>
            <a:r>
              <a:rPr lang="en-US" altLang="en-US"/>
              <a:t>токены</a:t>
            </a:r>
            <a:r>
              <a:rPr lang="en-US" altLang="ru-RU"/>
              <a:t>) +</a:t>
            </a:r>
            <a:r>
              <a:rPr lang="ru-RU" altLang="en-US"/>
              <a:t> </a:t>
            </a:r>
            <a:r>
              <a:rPr lang="en-US" altLang="en-US"/>
              <a:t>регистрация</a:t>
            </a:r>
            <a:r>
              <a:rPr lang="ru-RU" altLang="en-US"/>
              <a:t>.</a:t>
            </a:r>
            <a:endParaRPr lang="en-US" altLang="en-US"/>
          </a:p>
          <a:p>
            <a:r>
              <a:rPr lang="ru-RU" altLang="en-US"/>
              <a:t>4)Отечественная</a:t>
            </a:r>
            <a:r>
              <a:rPr lang="en-US" altLang="ru-RU"/>
              <a:t> </a:t>
            </a:r>
            <a:r>
              <a:rPr lang="en-US" altLang="en-US"/>
              <a:t>реализация</a:t>
            </a:r>
            <a:r>
              <a:rPr lang="en-US" altLang="ru-RU"/>
              <a:t>, </a:t>
            </a:r>
            <a:r>
              <a:rPr lang="en-US" altLang="en-US"/>
              <a:t>не</a:t>
            </a:r>
            <a:r>
              <a:rPr lang="en-US" altLang="ru-RU"/>
              <a:t> </a:t>
            </a:r>
            <a:r>
              <a:rPr lang="en-US" altLang="en-US"/>
              <a:t>западные</a:t>
            </a:r>
            <a:r>
              <a:rPr lang="en-US" altLang="ru-RU"/>
              <a:t> </a:t>
            </a:r>
            <a:r>
              <a:rPr lang="en-US" altLang="en-US"/>
              <a:t>аналоги</a:t>
            </a:r>
            <a:r>
              <a:rPr lang="ru-RU" altLang="en-US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Выводы</a:t>
            </a:r>
          </a:p>
        </p:txBody>
      </p:sp>
      <p:sp>
        <p:nvSpPr>
          <p:cNvPr id="5" name="Замещающее 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altLang="en-US"/>
              <a:t>1)</a:t>
            </a:r>
            <a:r>
              <a:rPr lang="en-US" altLang="en-US"/>
              <a:t>Создана</a:t>
            </a:r>
            <a:r>
              <a:rPr lang="en-US" altLang="ru-RU"/>
              <a:t> </a:t>
            </a:r>
            <a:r>
              <a:rPr lang="en-US" altLang="en-US"/>
              <a:t>работающая</a:t>
            </a:r>
            <a:r>
              <a:rPr lang="en-US" altLang="ru-RU"/>
              <a:t> </a:t>
            </a:r>
            <a:r>
              <a:rPr lang="en-US" altLang="en-US"/>
              <a:t>система</a:t>
            </a:r>
            <a:r>
              <a:rPr lang="en-US" altLang="ru-RU"/>
              <a:t> </a:t>
            </a:r>
            <a:r>
              <a:rPr lang="en-US" altLang="en-US"/>
              <a:t>проверки</a:t>
            </a:r>
            <a:r>
              <a:rPr lang="en-US" altLang="ru-RU"/>
              <a:t> </a:t>
            </a:r>
            <a:r>
              <a:rPr lang="en-US" altLang="en-US"/>
              <a:t>фактов</a:t>
            </a:r>
          </a:p>
          <a:p>
            <a:r>
              <a:rPr lang="ru-RU" altLang="en-US"/>
              <a:t>2)</a:t>
            </a:r>
            <a:r>
              <a:rPr lang="en-US" altLang="en-US"/>
              <a:t>Система</a:t>
            </a:r>
            <a:r>
              <a:rPr lang="en-US" altLang="ru-RU"/>
              <a:t> </a:t>
            </a:r>
            <a:r>
              <a:rPr lang="en-US" altLang="en-US"/>
              <a:t>соответствует</a:t>
            </a:r>
            <a:r>
              <a:rPr lang="en-US" altLang="ru-RU"/>
              <a:t> </a:t>
            </a:r>
            <a:r>
              <a:rPr lang="en-US" altLang="en-US"/>
              <a:t>требованиям</a:t>
            </a:r>
            <a:r>
              <a:rPr lang="en-US" altLang="ru-RU"/>
              <a:t> </a:t>
            </a:r>
            <a:r>
              <a:rPr lang="en-US" altLang="en-US"/>
              <a:t>Доктрины</a:t>
            </a:r>
            <a:r>
              <a:rPr lang="en-US" altLang="ru-RU"/>
              <a:t> </a:t>
            </a:r>
            <a:r>
              <a:rPr lang="en-US" altLang="en-US"/>
              <a:t>ИБ</a:t>
            </a:r>
            <a:r>
              <a:rPr lang="en-US" altLang="ru-RU"/>
              <a:t> </a:t>
            </a:r>
            <a:r>
              <a:rPr lang="en-US" altLang="en-US"/>
              <a:t>РФ</a:t>
            </a:r>
          </a:p>
          <a:p>
            <a:r>
              <a:rPr lang="ru-RU" altLang="en-US"/>
              <a:t>3)</a:t>
            </a:r>
            <a:r>
              <a:rPr lang="en-US" altLang="en-US"/>
              <a:t>Используются</a:t>
            </a:r>
            <a:r>
              <a:rPr lang="en-US" altLang="ru-RU"/>
              <a:t> </a:t>
            </a:r>
            <a:r>
              <a:rPr lang="en-US" altLang="en-US"/>
              <a:t>только</a:t>
            </a:r>
            <a:r>
              <a:rPr lang="en-US" altLang="ru-RU"/>
              <a:t> </a:t>
            </a:r>
            <a:r>
              <a:rPr lang="en-US" altLang="en-US"/>
              <a:t>российские</a:t>
            </a:r>
            <a:r>
              <a:rPr lang="en-US" altLang="ru-RU"/>
              <a:t> </a:t>
            </a:r>
            <a:r>
              <a:rPr lang="en-US" altLang="en-US"/>
              <a:t>источники</a:t>
            </a:r>
          </a:p>
          <a:p>
            <a:r>
              <a:rPr lang="ru-RU" altLang="en-US"/>
              <a:t>4)</a:t>
            </a:r>
            <a:r>
              <a:rPr lang="en-US" altLang="en-US"/>
              <a:t>Есть</a:t>
            </a:r>
            <a:r>
              <a:rPr lang="en-US" altLang="ru-RU"/>
              <a:t> </a:t>
            </a:r>
            <a:r>
              <a:rPr lang="en-US" altLang="en-US"/>
              <a:t>защита</a:t>
            </a:r>
            <a:r>
              <a:rPr lang="en-US" altLang="ru-RU"/>
              <a:t> </a:t>
            </a:r>
            <a:r>
              <a:rPr lang="en-US" altLang="en-US"/>
              <a:t>от</a:t>
            </a:r>
            <a:r>
              <a:rPr lang="en-US" altLang="ru-RU"/>
              <a:t> </a:t>
            </a:r>
            <a:r>
              <a:rPr lang="en-US" altLang="en-US"/>
              <a:t>злоупотреблений</a:t>
            </a:r>
            <a:r>
              <a:rPr lang="en-US" altLang="ru-RU"/>
              <a:t> (</a:t>
            </a:r>
            <a:r>
              <a:rPr lang="en-US" altLang="en-US"/>
              <a:t>токены</a:t>
            </a:r>
            <a:r>
              <a:rPr lang="en-US" altLang="ru-RU"/>
              <a:t>, </a:t>
            </a:r>
            <a:r>
              <a:rPr lang="en-US" altLang="en-US"/>
              <a:t>регистрация</a:t>
            </a:r>
            <a:r>
              <a:rPr lang="en-US" altLang="ru-RU"/>
              <a:t>)</a:t>
            </a:r>
          </a:p>
          <a:p>
            <a:r>
              <a:rPr lang="ru-RU" altLang="en-US"/>
              <a:t>5)</a:t>
            </a:r>
            <a:r>
              <a:rPr lang="en-US" altLang="en-US"/>
              <a:t>Проект</a:t>
            </a:r>
            <a:r>
              <a:rPr lang="en-US" altLang="ru-RU"/>
              <a:t> </a:t>
            </a:r>
            <a:r>
              <a:rPr lang="en-US" altLang="en-US"/>
              <a:t>можно</a:t>
            </a:r>
            <a:r>
              <a:rPr lang="en-US" altLang="ru-RU"/>
              <a:t> </a:t>
            </a:r>
            <a:r>
              <a:rPr lang="en-US" altLang="en-US"/>
              <a:t>использовать</a:t>
            </a:r>
            <a:r>
              <a:rPr lang="en-US" altLang="ru-RU"/>
              <a:t> </a:t>
            </a:r>
            <a:r>
              <a:rPr lang="en-US" altLang="en-US"/>
              <a:t>как</a:t>
            </a:r>
            <a:r>
              <a:rPr lang="en-US" altLang="ru-RU"/>
              <a:t> </a:t>
            </a:r>
            <a:r>
              <a:rPr lang="en-US" altLang="en-US"/>
              <a:t>прототип</a:t>
            </a:r>
            <a:r>
              <a:rPr lang="en-US" altLang="ru-RU"/>
              <a:t>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государственного</a:t>
            </a:r>
            <a:r>
              <a:rPr lang="en-US" altLang="ru-RU"/>
              <a:t> </a:t>
            </a:r>
            <a:r>
              <a:rPr lang="en-US" altLang="en-US"/>
              <a:t>сервиса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/>
              <a:t>Уголовная</a:t>
            </a:r>
            <a:r>
              <a:rPr lang="en-US" altLang="ru-RU"/>
              <a:t> </a:t>
            </a:r>
            <a:r>
              <a:rPr lang="en-US" altLang="en-US"/>
              <a:t>ответственность</a:t>
            </a:r>
            <a:r>
              <a:rPr lang="en-US" altLang="ru-RU"/>
              <a:t> </a:t>
            </a:r>
            <a:r>
              <a:rPr lang="en-US" altLang="en-US"/>
              <a:t>за</a:t>
            </a:r>
            <a:r>
              <a:rPr lang="en-US" altLang="ru-RU"/>
              <a:t> </a:t>
            </a:r>
            <a:r>
              <a:rPr lang="en-US" altLang="en-US"/>
              <a:t>недостоверную</a:t>
            </a:r>
            <a:r>
              <a:rPr lang="en-US" altLang="ru-RU"/>
              <a:t> </a:t>
            </a:r>
            <a:r>
              <a:rPr lang="en-US" altLang="en-US"/>
              <a:t>информацию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1454150"/>
            <a:ext cx="10515600" cy="5403850"/>
          </a:xfrm>
        </p:spPr>
        <p:txBody>
          <a:bodyPr>
            <a:normAutofit fontScale="97500" lnSpcReduction="10000"/>
          </a:bodyPr>
          <a:lstStyle/>
          <a:p>
            <a:r>
              <a:rPr lang="en-US" altLang="ru-RU" dirty="0"/>
              <a:t>1. </a:t>
            </a:r>
            <a:r>
              <a:rPr lang="en-US" altLang="en-US" dirty="0" err="1"/>
              <a:t>Статья</a:t>
            </a:r>
            <a:r>
              <a:rPr lang="en-US" altLang="ru-RU" dirty="0"/>
              <a:t> 207.3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— </a:t>
            </a:r>
            <a:r>
              <a:rPr lang="en-US" altLang="en-US" dirty="0" err="1"/>
              <a:t>Публичное</a:t>
            </a:r>
            <a:r>
              <a:rPr lang="en-US" altLang="ru-RU" dirty="0"/>
              <a:t> </a:t>
            </a:r>
            <a:r>
              <a:rPr lang="en-US" altLang="en-US" dirty="0" err="1"/>
              <a:t>распространение</a:t>
            </a:r>
            <a:r>
              <a:rPr lang="en-US" altLang="ru-RU" dirty="0"/>
              <a:t> </a:t>
            </a:r>
            <a:r>
              <a:rPr lang="en-US" altLang="en-US" dirty="0" err="1"/>
              <a:t>заведомо</a:t>
            </a:r>
            <a:r>
              <a:rPr lang="en-US" altLang="ru-RU" dirty="0"/>
              <a:t> </a:t>
            </a:r>
            <a:r>
              <a:rPr lang="en-US" altLang="en-US" dirty="0" err="1"/>
              <a:t>ложной</a:t>
            </a:r>
            <a:r>
              <a:rPr lang="en-US" altLang="ru-RU" dirty="0"/>
              <a:t> </a:t>
            </a:r>
            <a:r>
              <a:rPr lang="en-US" altLang="en-US" dirty="0" err="1"/>
              <a:t>информации</a:t>
            </a:r>
            <a:r>
              <a:rPr lang="en-US" altLang="ru-RU" dirty="0"/>
              <a:t> </a:t>
            </a:r>
            <a:r>
              <a:rPr lang="en-US" altLang="en-US" dirty="0" err="1"/>
              <a:t>об</a:t>
            </a:r>
            <a:r>
              <a:rPr lang="en-US" altLang="ru-RU" dirty="0"/>
              <a:t> </a:t>
            </a:r>
            <a:r>
              <a:rPr lang="en-US" altLang="en-US" dirty="0" err="1"/>
              <a:t>использовании</a:t>
            </a:r>
            <a:r>
              <a:rPr lang="en-US" altLang="ru-RU" dirty="0"/>
              <a:t> </a:t>
            </a:r>
            <a:r>
              <a:rPr lang="en-US" altLang="en-US" dirty="0" err="1"/>
              <a:t>Вооруженных</a:t>
            </a:r>
            <a:r>
              <a:rPr lang="en-US" altLang="ru-RU" dirty="0"/>
              <a:t> </a:t>
            </a:r>
            <a:r>
              <a:rPr lang="en-US" altLang="en-US" dirty="0" err="1"/>
              <a:t>сил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 </a:t>
            </a:r>
          </a:p>
          <a:p>
            <a:r>
              <a:rPr lang="ru-RU" altLang="en-US" dirty="0"/>
              <a:t>(</a:t>
            </a:r>
            <a:r>
              <a:rPr lang="en-US" altLang="en-US" dirty="0" err="1"/>
              <a:t>Фейки</a:t>
            </a:r>
            <a:r>
              <a:rPr lang="en-US" altLang="ru-RU" dirty="0"/>
              <a:t> </a:t>
            </a:r>
            <a:r>
              <a:rPr lang="en-US" altLang="en-US" dirty="0" err="1"/>
              <a:t>про</a:t>
            </a:r>
            <a:r>
              <a:rPr lang="en-US" altLang="ru-RU" dirty="0"/>
              <a:t> </a:t>
            </a:r>
            <a:r>
              <a:rPr lang="en-US" altLang="en-US" dirty="0" err="1"/>
              <a:t>Вооружённые</a:t>
            </a:r>
            <a:r>
              <a:rPr lang="en-US" altLang="ru-RU" dirty="0"/>
              <a:t> </a:t>
            </a:r>
            <a:r>
              <a:rPr lang="en-US" altLang="en-US" dirty="0" err="1"/>
              <a:t>силы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(</a:t>
            </a:r>
            <a:r>
              <a:rPr lang="en-US" altLang="en-US" dirty="0" err="1"/>
              <a:t>до</a:t>
            </a:r>
            <a:r>
              <a:rPr lang="en-US" altLang="ru-RU" dirty="0"/>
              <a:t> 15 </a:t>
            </a:r>
            <a:r>
              <a:rPr lang="en-US" altLang="en-US" dirty="0" err="1"/>
              <a:t>лет</a:t>
            </a:r>
            <a:r>
              <a:rPr lang="en-US" altLang="ru-RU" dirty="0"/>
              <a:t>)</a:t>
            </a:r>
            <a:r>
              <a:rPr lang="ru-RU" altLang="en-US" dirty="0"/>
              <a:t>).</a:t>
            </a:r>
            <a:endParaRPr lang="en-US" altLang="ru-RU" dirty="0"/>
          </a:p>
          <a:p>
            <a:r>
              <a:rPr lang="en-US" altLang="ru-RU" dirty="0"/>
              <a:t>2. </a:t>
            </a:r>
            <a:r>
              <a:rPr lang="en-US" altLang="en-US" dirty="0" err="1"/>
              <a:t>Статья</a:t>
            </a:r>
            <a:r>
              <a:rPr lang="en-US" altLang="ru-RU" dirty="0"/>
              <a:t> 207.5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— </a:t>
            </a:r>
            <a:r>
              <a:rPr lang="en-US" altLang="en-US" dirty="0" err="1"/>
              <a:t>Публичное</a:t>
            </a:r>
            <a:r>
              <a:rPr lang="en-US" altLang="ru-RU" dirty="0"/>
              <a:t> </a:t>
            </a:r>
            <a:r>
              <a:rPr lang="en-US" altLang="en-US" dirty="0" err="1"/>
              <a:t>распространение</a:t>
            </a:r>
            <a:r>
              <a:rPr lang="en-US" altLang="ru-RU" dirty="0"/>
              <a:t> </a:t>
            </a:r>
            <a:r>
              <a:rPr lang="en-US" altLang="en-US" dirty="0" err="1"/>
              <a:t>заведомо</a:t>
            </a:r>
            <a:r>
              <a:rPr lang="en-US" altLang="ru-RU" dirty="0"/>
              <a:t> </a:t>
            </a:r>
            <a:r>
              <a:rPr lang="en-US" altLang="en-US" dirty="0" err="1"/>
              <a:t>ложной</a:t>
            </a:r>
            <a:r>
              <a:rPr lang="en-US" altLang="ru-RU" dirty="0"/>
              <a:t> </a:t>
            </a:r>
            <a:r>
              <a:rPr lang="en-US" altLang="en-US" dirty="0" err="1"/>
              <a:t>информации</a:t>
            </a:r>
            <a:r>
              <a:rPr lang="en-US" altLang="ru-RU" dirty="0"/>
              <a:t> </a:t>
            </a:r>
            <a:r>
              <a:rPr lang="en-US" altLang="en-US" dirty="0"/>
              <a:t>о</a:t>
            </a:r>
            <a:r>
              <a:rPr lang="en-US" altLang="ru-RU" dirty="0"/>
              <a:t> </a:t>
            </a:r>
            <a:r>
              <a:rPr lang="en-US" altLang="en-US" dirty="0" err="1"/>
              <a:t>деятельности</a:t>
            </a:r>
            <a:r>
              <a:rPr lang="en-US" altLang="ru-RU" dirty="0"/>
              <a:t> </a:t>
            </a:r>
            <a:r>
              <a:rPr lang="en-US" altLang="en-US" dirty="0" err="1"/>
              <a:t>госорганов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</a:t>
            </a:r>
            <a:r>
              <a:rPr lang="en-US" altLang="en-US" dirty="0" err="1"/>
              <a:t>за</a:t>
            </a:r>
            <a:r>
              <a:rPr lang="en-US" altLang="ru-RU" dirty="0"/>
              <a:t> </a:t>
            </a:r>
            <a:r>
              <a:rPr lang="en-US" altLang="en-US" dirty="0" err="1"/>
              <a:t>рубежом</a:t>
            </a:r>
            <a:endParaRPr lang="en-US" altLang="en-US" dirty="0"/>
          </a:p>
          <a:p>
            <a:r>
              <a:rPr lang="ru-RU" altLang="en-US" dirty="0"/>
              <a:t>(</a:t>
            </a:r>
            <a:r>
              <a:rPr lang="en-US" altLang="en-US" dirty="0" err="1"/>
              <a:t>Фейки</a:t>
            </a:r>
            <a:r>
              <a:rPr lang="en-US" altLang="ru-RU" dirty="0"/>
              <a:t> </a:t>
            </a:r>
            <a:r>
              <a:rPr lang="en-US" altLang="en-US" dirty="0" err="1"/>
              <a:t>про</a:t>
            </a:r>
            <a:r>
              <a:rPr lang="en-US" altLang="ru-RU" dirty="0"/>
              <a:t> </a:t>
            </a:r>
            <a:r>
              <a:rPr lang="en-US" altLang="en-US" dirty="0" err="1"/>
              <a:t>госорганы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</a:t>
            </a:r>
            <a:r>
              <a:rPr lang="en-US" altLang="en-US" dirty="0" err="1"/>
              <a:t>за</a:t>
            </a:r>
            <a:r>
              <a:rPr lang="en-US" altLang="ru-RU" dirty="0"/>
              <a:t> </a:t>
            </a:r>
            <a:r>
              <a:rPr lang="en-US" altLang="en-US" dirty="0" err="1"/>
              <a:t>рубежом</a:t>
            </a:r>
            <a:r>
              <a:rPr lang="en-US" altLang="ru-RU" dirty="0"/>
              <a:t> (</a:t>
            </a:r>
            <a:r>
              <a:rPr lang="en-US" altLang="en-US" dirty="0" err="1"/>
              <a:t>до</a:t>
            </a:r>
            <a:r>
              <a:rPr lang="en-US" altLang="ru-RU" dirty="0"/>
              <a:t> 3 </a:t>
            </a:r>
            <a:r>
              <a:rPr lang="en-US" altLang="en-US" dirty="0" err="1"/>
              <a:t>лет</a:t>
            </a:r>
            <a:r>
              <a:rPr lang="en-US" altLang="ru-RU" dirty="0"/>
              <a:t>)</a:t>
            </a:r>
            <a:r>
              <a:rPr lang="ru-RU" altLang="en-US" dirty="0"/>
              <a:t>).</a:t>
            </a:r>
            <a:endParaRPr lang="en-US" altLang="en-US" dirty="0"/>
          </a:p>
          <a:p>
            <a:r>
              <a:rPr lang="en-US" altLang="ru-RU" dirty="0"/>
              <a:t>3. </a:t>
            </a:r>
            <a:r>
              <a:rPr lang="en-US" altLang="en-US" dirty="0" err="1"/>
              <a:t>Статья</a:t>
            </a:r>
            <a:r>
              <a:rPr lang="en-US" altLang="ru-RU" dirty="0"/>
              <a:t> 207.2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— </a:t>
            </a:r>
            <a:r>
              <a:rPr lang="en-US" altLang="en-US" dirty="0" err="1"/>
              <a:t>Публичное</a:t>
            </a:r>
            <a:r>
              <a:rPr lang="en-US" altLang="ru-RU" dirty="0"/>
              <a:t> </a:t>
            </a:r>
            <a:r>
              <a:rPr lang="en-US" altLang="en-US" dirty="0" err="1"/>
              <a:t>распространение</a:t>
            </a:r>
            <a:r>
              <a:rPr lang="en-US" altLang="ru-RU" dirty="0"/>
              <a:t> </a:t>
            </a:r>
            <a:r>
              <a:rPr lang="en-US" altLang="en-US" dirty="0" err="1"/>
              <a:t>заведомо</a:t>
            </a:r>
            <a:r>
              <a:rPr lang="en-US" altLang="ru-RU" dirty="0"/>
              <a:t> </a:t>
            </a:r>
            <a:r>
              <a:rPr lang="en-US" altLang="en-US" dirty="0" err="1"/>
              <a:t>ложной</a:t>
            </a:r>
            <a:r>
              <a:rPr lang="en-US" altLang="ru-RU" dirty="0"/>
              <a:t> </a:t>
            </a:r>
            <a:r>
              <a:rPr lang="en-US" altLang="en-US" dirty="0" err="1"/>
              <a:t>информации</a:t>
            </a:r>
            <a:r>
              <a:rPr lang="en-US" altLang="ru-RU" dirty="0"/>
              <a:t> </a:t>
            </a:r>
            <a:r>
              <a:rPr lang="en-US" altLang="en-US" dirty="0"/>
              <a:t>о</a:t>
            </a:r>
            <a:r>
              <a:rPr lang="en-US" altLang="ru-RU" dirty="0"/>
              <a:t> </a:t>
            </a:r>
            <a:r>
              <a:rPr lang="en-US" altLang="en-US" dirty="0" err="1"/>
              <a:t>ситуации</a:t>
            </a:r>
            <a:r>
              <a:rPr lang="en-US" altLang="ru-RU" dirty="0"/>
              <a:t>, </a:t>
            </a:r>
            <a:r>
              <a:rPr lang="en-US" altLang="en-US" dirty="0" err="1"/>
              <a:t>создающей</a:t>
            </a:r>
            <a:r>
              <a:rPr lang="en-US" altLang="ru-RU" dirty="0"/>
              <a:t> </a:t>
            </a:r>
            <a:r>
              <a:rPr lang="en-US" altLang="en-US" dirty="0" err="1"/>
              <a:t>угрозу</a:t>
            </a:r>
            <a:r>
              <a:rPr lang="en-US" altLang="ru-RU" dirty="0"/>
              <a:t> </a:t>
            </a:r>
            <a:r>
              <a:rPr lang="en-US" altLang="en-US" dirty="0" err="1"/>
              <a:t>жизни</a:t>
            </a:r>
            <a:r>
              <a:rPr lang="en-US" altLang="ru-RU" dirty="0"/>
              <a:t> </a:t>
            </a:r>
            <a:r>
              <a:rPr lang="en-US" altLang="en-US" dirty="0"/>
              <a:t>и</a:t>
            </a:r>
            <a:r>
              <a:rPr lang="en-US" altLang="ru-RU" dirty="0"/>
              <a:t> </a:t>
            </a:r>
            <a:r>
              <a:rPr lang="en-US" altLang="en-US" dirty="0"/>
              <a:t>безопасности</a:t>
            </a:r>
            <a:r>
              <a:rPr lang="en-US" altLang="ru-RU" dirty="0"/>
              <a:t> </a:t>
            </a:r>
            <a:r>
              <a:rPr lang="en-US" altLang="en-US" dirty="0" err="1"/>
              <a:t>граждан</a:t>
            </a:r>
            <a:endParaRPr lang="en-US" altLang="en-US" dirty="0"/>
          </a:p>
          <a:p>
            <a:r>
              <a:rPr lang="ru-RU" altLang="en-US" dirty="0"/>
              <a:t>(</a:t>
            </a:r>
            <a:r>
              <a:rPr lang="en-US" altLang="en-US" dirty="0" err="1"/>
              <a:t>Фейки</a:t>
            </a:r>
            <a:r>
              <a:rPr lang="en-US" altLang="ru-RU" dirty="0"/>
              <a:t> </a:t>
            </a:r>
            <a:r>
              <a:rPr lang="en-US" altLang="en-US" dirty="0" err="1"/>
              <a:t>про</a:t>
            </a:r>
            <a:r>
              <a:rPr lang="en-US" altLang="ru-RU" dirty="0"/>
              <a:t> </a:t>
            </a:r>
            <a:r>
              <a:rPr lang="en-US" altLang="en-US" dirty="0" err="1"/>
              <a:t>теракты</a:t>
            </a:r>
            <a:r>
              <a:rPr lang="en-US" altLang="ru-RU" dirty="0"/>
              <a:t> </a:t>
            </a:r>
            <a:r>
              <a:rPr lang="en-US" altLang="en-US" dirty="0"/>
              <a:t>и</a:t>
            </a:r>
            <a:r>
              <a:rPr lang="en-US" altLang="ru-RU" dirty="0"/>
              <a:t> </a:t>
            </a:r>
            <a:r>
              <a:rPr lang="en-US" altLang="en-US" dirty="0" err="1"/>
              <a:t>катастрофы</a:t>
            </a:r>
            <a:r>
              <a:rPr lang="en-US" altLang="ru-RU" dirty="0"/>
              <a:t> (</a:t>
            </a:r>
            <a:r>
              <a:rPr lang="en-US" altLang="en-US" dirty="0" err="1"/>
              <a:t>до</a:t>
            </a:r>
            <a:r>
              <a:rPr lang="en-US" altLang="ru-RU" dirty="0"/>
              <a:t> 5 </a:t>
            </a:r>
            <a:r>
              <a:rPr lang="en-US" altLang="en-US" dirty="0" err="1"/>
              <a:t>лет</a:t>
            </a:r>
            <a:r>
              <a:rPr lang="en-US" altLang="ru-RU" dirty="0"/>
              <a:t>)</a:t>
            </a:r>
            <a:r>
              <a:rPr lang="ru-RU" altLang="en-US" dirty="0"/>
              <a:t>).</a:t>
            </a:r>
            <a:endParaRPr lang="en-US" altLang="ru-RU" dirty="0"/>
          </a:p>
          <a:p>
            <a:r>
              <a:rPr lang="en-US" altLang="ru-RU" dirty="0"/>
              <a:t>4. </a:t>
            </a:r>
            <a:r>
              <a:rPr lang="en-US" altLang="en-US" dirty="0" err="1"/>
              <a:t>Статья</a:t>
            </a:r>
            <a:r>
              <a:rPr lang="en-US" altLang="ru-RU" dirty="0"/>
              <a:t> 128.1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— </a:t>
            </a:r>
            <a:r>
              <a:rPr lang="en-US" altLang="en-US" dirty="0" err="1"/>
              <a:t>Клевета</a:t>
            </a:r>
            <a:r>
              <a:rPr lang="ru-RU" altLang="en-US" dirty="0"/>
              <a:t> (</a:t>
            </a:r>
            <a:r>
              <a:rPr lang="en-US" altLang="en-US" dirty="0" err="1"/>
              <a:t>Клевета</a:t>
            </a:r>
            <a:r>
              <a:rPr lang="en-US" altLang="ru-RU" dirty="0"/>
              <a:t> (</a:t>
            </a:r>
            <a:r>
              <a:rPr lang="en-US" altLang="en-US" dirty="0" err="1"/>
              <a:t>до</a:t>
            </a:r>
            <a:r>
              <a:rPr lang="en-US" altLang="ru-RU" dirty="0"/>
              <a:t> 500 </a:t>
            </a:r>
            <a:r>
              <a:rPr lang="en-US" altLang="en-US" dirty="0" err="1"/>
              <a:t>тыс</a:t>
            </a:r>
            <a:r>
              <a:rPr lang="en-US" altLang="ru-RU" dirty="0"/>
              <a:t>. </a:t>
            </a:r>
            <a:r>
              <a:rPr lang="en-US" altLang="en-US" dirty="0" err="1"/>
              <a:t>руб</a:t>
            </a:r>
            <a:r>
              <a:rPr lang="en-US" altLang="ru-RU" dirty="0"/>
              <a:t>)</a:t>
            </a:r>
            <a:r>
              <a:rPr lang="ru-RU" altLang="en-US" dirty="0"/>
              <a:t>).</a:t>
            </a:r>
            <a:endParaRPr lang="en-US" altLang="ru-RU" dirty="0"/>
          </a:p>
          <a:p>
            <a:r>
              <a:rPr lang="en-US" altLang="ru-RU" dirty="0"/>
              <a:t>5. </a:t>
            </a:r>
            <a:r>
              <a:rPr lang="en-US" altLang="en-US" dirty="0" err="1"/>
              <a:t>Статья</a:t>
            </a:r>
            <a:r>
              <a:rPr lang="en-US" altLang="ru-RU" dirty="0"/>
              <a:t> 280.3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— </a:t>
            </a:r>
            <a:r>
              <a:rPr lang="en-US" altLang="en-US" dirty="0" err="1"/>
              <a:t>Дискредитация</a:t>
            </a:r>
            <a:r>
              <a:rPr lang="en-US" altLang="ru-RU" dirty="0"/>
              <a:t> </a:t>
            </a:r>
            <a:r>
              <a:rPr lang="en-US" altLang="en-US" dirty="0" err="1"/>
              <a:t>Вооруженных</a:t>
            </a:r>
            <a:r>
              <a:rPr lang="en-US" altLang="ru-RU" dirty="0"/>
              <a:t> </a:t>
            </a:r>
            <a:r>
              <a:rPr lang="en-US" altLang="en-US" dirty="0" err="1"/>
              <a:t>сил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 </a:t>
            </a:r>
          </a:p>
          <a:p>
            <a:r>
              <a:rPr lang="ru-RU" altLang="en-US" dirty="0"/>
              <a:t>(</a:t>
            </a:r>
            <a:r>
              <a:rPr lang="en-US" altLang="en-US" dirty="0" err="1"/>
              <a:t>Дискредитация</a:t>
            </a:r>
            <a:r>
              <a:rPr lang="en-US" altLang="ru-RU" dirty="0"/>
              <a:t> </a:t>
            </a:r>
            <a:r>
              <a:rPr lang="en-US" altLang="en-US" dirty="0"/>
              <a:t>ВС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en-US" altLang="ru-RU" dirty="0"/>
              <a:t> (</a:t>
            </a:r>
            <a:r>
              <a:rPr lang="en-US" altLang="en-US" dirty="0" err="1"/>
              <a:t>до</a:t>
            </a:r>
            <a:r>
              <a:rPr lang="en-US" altLang="ru-RU" dirty="0"/>
              <a:t> 15 </a:t>
            </a:r>
            <a:r>
              <a:rPr lang="en-US" altLang="en-US" dirty="0" err="1"/>
              <a:t>суток</a:t>
            </a:r>
            <a:r>
              <a:rPr lang="en-US" altLang="ru-RU" dirty="0"/>
              <a:t> </a:t>
            </a:r>
            <a:r>
              <a:rPr lang="en-US" altLang="en-US" dirty="0" err="1"/>
              <a:t>ареста</a:t>
            </a:r>
            <a:r>
              <a:rPr lang="en-US" altLang="ru-RU" dirty="0"/>
              <a:t>)</a:t>
            </a:r>
            <a:r>
              <a:rPr lang="ru-RU" altLang="en-US" dirty="0"/>
              <a:t>).</a:t>
            </a:r>
            <a:endParaRPr lang="en-US" altLang="en-US" dirty="0"/>
          </a:p>
          <a:p>
            <a:endParaRPr lang="en-US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/>
              <a:t>Краткое описание используемой информации в проекте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ru-RU" sz="2000" dirty="0"/>
              <a:t>1. </a:t>
            </a:r>
            <a:r>
              <a:rPr lang="en-US" altLang="en-US" sz="2000" dirty="0" err="1"/>
              <a:t>Доктрина</a:t>
            </a:r>
            <a:r>
              <a:rPr lang="en-US" altLang="ru-RU" sz="2000" dirty="0"/>
              <a:t> </a:t>
            </a:r>
            <a:r>
              <a:rPr lang="en-US" altLang="en-US" sz="2000" dirty="0"/>
              <a:t>информационной</a:t>
            </a:r>
            <a:r>
              <a:rPr lang="en-US" altLang="ru-RU" sz="2000" dirty="0"/>
              <a:t> </a:t>
            </a:r>
            <a:r>
              <a:rPr lang="en-US" altLang="en-US" sz="2000" dirty="0"/>
              <a:t>безопасности</a:t>
            </a:r>
            <a:r>
              <a:rPr lang="en-US" altLang="ru-RU" sz="2000" dirty="0"/>
              <a:t> </a:t>
            </a:r>
            <a:r>
              <a:rPr lang="en-US" altLang="en-US" sz="2000" dirty="0"/>
              <a:t>РФ</a:t>
            </a:r>
            <a:r>
              <a:rPr lang="en-US" altLang="ru-RU" sz="2000" dirty="0"/>
              <a:t> (2016, </a:t>
            </a:r>
            <a:r>
              <a:rPr lang="en-US" altLang="en-US" sz="2000" dirty="0" err="1"/>
              <a:t>ред</a:t>
            </a:r>
            <a:r>
              <a:rPr lang="en-US" altLang="ru-RU" sz="2000" dirty="0"/>
              <a:t>. 2021)</a:t>
            </a:r>
            <a:r>
              <a:rPr lang="ru-RU" altLang="en-US" sz="2000" dirty="0"/>
              <a:t> </a:t>
            </a:r>
          </a:p>
          <a:p>
            <a:r>
              <a:rPr lang="en-US" altLang="en-US" sz="2000" dirty="0" err="1"/>
              <a:t>Пункт</a:t>
            </a:r>
            <a:r>
              <a:rPr lang="en-US" altLang="ru-RU" sz="2000" dirty="0"/>
              <a:t> 15(</a:t>
            </a:r>
            <a:r>
              <a:rPr lang="en-US" altLang="en-US" sz="2000" dirty="0"/>
              <a:t>в</a:t>
            </a:r>
            <a:r>
              <a:rPr lang="en-US" altLang="ru-RU" sz="2000" dirty="0"/>
              <a:t>) — </a:t>
            </a:r>
            <a:r>
              <a:rPr lang="en-US" altLang="en-US" sz="2000" dirty="0" err="1"/>
              <a:t>обеспечение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достоверности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. </a:t>
            </a:r>
          </a:p>
          <a:p>
            <a:r>
              <a:rPr lang="en-US" altLang="en-US" sz="2000" dirty="0" err="1"/>
              <a:t>Пункт</a:t>
            </a:r>
            <a:r>
              <a:rPr lang="en-US" altLang="ru-RU" sz="2000" dirty="0"/>
              <a:t> 29(</a:t>
            </a:r>
            <a:r>
              <a:rPr lang="en-US" altLang="en-US" sz="2000" dirty="0"/>
              <a:t>в</a:t>
            </a:r>
            <a:r>
              <a:rPr lang="en-US" altLang="ru-RU" sz="2000" dirty="0"/>
              <a:t>) — </a:t>
            </a:r>
            <a:r>
              <a:rPr lang="en-US" altLang="en-US" sz="2000" dirty="0" err="1"/>
              <a:t>противодействие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использованию</a:t>
            </a:r>
            <a:r>
              <a:rPr lang="en-US" altLang="ru-RU" sz="2000" dirty="0"/>
              <a:t> </a:t>
            </a:r>
            <a:r>
              <a:rPr lang="en-US" altLang="en-US" sz="2000" dirty="0"/>
              <a:t>ИКТ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для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разжигания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розни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подрыва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суверенитета</a:t>
            </a:r>
            <a:r>
              <a:rPr lang="en-US" altLang="ru-RU" sz="2000" dirty="0"/>
              <a:t>. </a:t>
            </a:r>
          </a:p>
          <a:p>
            <a:r>
              <a:rPr lang="en-US" altLang="ru-RU" sz="2000" dirty="0"/>
              <a:t>2. </a:t>
            </a:r>
            <a:r>
              <a:rPr lang="en-US" altLang="en-US" sz="2000" dirty="0" err="1"/>
              <a:t>Федеральный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закон</a:t>
            </a:r>
            <a:r>
              <a:rPr lang="en-US" altLang="ru-RU" sz="2000" dirty="0"/>
              <a:t> </a:t>
            </a:r>
            <a:r>
              <a:rPr lang="en-US" altLang="en-US" sz="2000" dirty="0"/>
              <a:t>№</a:t>
            </a:r>
            <a:r>
              <a:rPr lang="en-US" altLang="ru-RU" sz="2000" dirty="0"/>
              <a:t> 212-</a:t>
            </a:r>
            <a:r>
              <a:rPr lang="en-US" altLang="en-US" sz="2000" dirty="0"/>
              <a:t>ФЗ</a:t>
            </a:r>
            <a:r>
              <a:rPr lang="en-US" altLang="ru-RU" sz="2000" dirty="0"/>
              <a:t> "</a:t>
            </a:r>
            <a:r>
              <a:rPr lang="en-US" altLang="en-US" sz="2000" dirty="0" err="1"/>
              <a:t>Об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информационных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технологиях</a:t>
            </a:r>
            <a:r>
              <a:rPr lang="en-US" altLang="ru-RU" sz="2000" dirty="0"/>
              <a:t> </a:t>
            </a:r>
            <a:r>
              <a:rPr lang="en-US" altLang="en-US" sz="2000" dirty="0"/>
              <a:t>и</a:t>
            </a:r>
            <a:r>
              <a:rPr lang="en-US" altLang="ru-RU" sz="2000" dirty="0"/>
              <a:t> </a:t>
            </a:r>
            <a:r>
              <a:rPr lang="en-US" altLang="en-US" sz="2000" dirty="0"/>
              <a:t>о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защите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>
                <a:sym typeface="+mn-ea"/>
              </a:rPr>
              <a:t>".</a:t>
            </a:r>
            <a:endParaRPr lang="en-US" altLang="en-US" sz="2000" dirty="0"/>
          </a:p>
          <a:p>
            <a:r>
              <a:rPr lang="en-US" altLang="en-US" sz="2000" dirty="0" err="1"/>
              <a:t>Закон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запрещает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распространение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заведомо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недостоверной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под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видом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достоверных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сообщений</a:t>
            </a:r>
            <a:r>
              <a:rPr lang="en-US" altLang="ru-RU" sz="2000" dirty="0"/>
              <a:t>. </a:t>
            </a:r>
          </a:p>
          <a:p>
            <a:r>
              <a:rPr lang="en-US" altLang="ru-RU" sz="2000" dirty="0"/>
              <a:t>3. </a:t>
            </a:r>
            <a:r>
              <a:rPr lang="en-US" altLang="en-US" sz="2000" dirty="0" err="1"/>
              <a:t>Федеральный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закон</a:t>
            </a:r>
            <a:r>
              <a:rPr lang="en-US" altLang="ru-RU" sz="2000" dirty="0"/>
              <a:t> </a:t>
            </a:r>
            <a:r>
              <a:rPr lang="en-US" altLang="en-US" sz="2000" dirty="0"/>
              <a:t>№</a:t>
            </a:r>
            <a:r>
              <a:rPr lang="en-US" altLang="ru-RU" sz="2000" dirty="0"/>
              <a:t> 149-</a:t>
            </a:r>
            <a:r>
              <a:rPr lang="en-US" altLang="en-US" sz="2000" dirty="0"/>
              <a:t>ФЗ</a:t>
            </a:r>
            <a:r>
              <a:rPr lang="en-US" altLang="ru-RU" sz="2000" dirty="0"/>
              <a:t> "</a:t>
            </a:r>
            <a:r>
              <a:rPr lang="en-US" altLang="en-US" sz="2000" dirty="0" err="1"/>
              <a:t>Об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информационных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технологиях</a:t>
            </a:r>
            <a:r>
              <a:rPr lang="en-US" altLang="ru-RU" sz="2000" dirty="0"/>
              <a:t> </a:t>
            </a:r>
            <a:r>
              <a:rPr lang="en-US" altLang="en-US" sz="2000" dirty="0"/>
              <a:t>и</a:t>
            </a:r>
            <a:r>
              <a:rPr lang="en-US" altLang="ru-RU" sz="2000" dirty="0"/>
              <a:t> </a:t>
            </a:r>
            <a:r>
              <a:rPr lang="en-US" altLang="en-US" sz="2000" dirty="0"/>
              <a:t>о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защите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".</a:t>
            </a:r>
          </a:p>
          <a:p>
            <a:r>
              <a:rPr lang="en-US" altLang="en-US" sz="2000" dirty="0" err="1"/>
              <a:t>Регулирует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отношения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при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осуществлении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права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на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поиск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получение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передачу</a:t>
            </a:r>
            <a:r>
              <a:rPr lang="en-US" altLang="ru-RU" sz="2000" dirty="0"/>
              <a:t> </a:t>
            </a:r>
            <a:r>
              <a:rPr lang="en-US" altLang="en-US" sz="2000" dirty="0"/>
              <a:t>и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производство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информации</a:t>
            </a:r>
            <a:r>
              <a:rPr lang="en-US" altLang="ru-RU" sz="2000" dirty="0"/>
              <a:t>.</a:t>
            </a:r>
          </a:p>
          <a:p>
            <a:r>
              <a:rPr lang="ru-RU" altLang="en-US" sz="2000" dirty="0"/>
              <a:t>4. </a:t>
            </a:r>
            <a:r>
              <a:rPr lang="en-US" altLang="en-US" sz="2000" dirty="0" err="1"/>
              <a:t>Указ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Президента</a:t>
            </a:r>
            <a:r>
              <a:rPr lang="en-US" altLang="ru-RU" sz="2000" dirty="0"/>
              <a:t> </a:t>
            </a:r>
            <a:r>
              <a:rPr lang="en-US" altLang="en-US" sz="2000" dirty="0"/>
              <a:t>РФ</a:t>
            </a:r>
            <a:r>
              <a:rPr lang="en-US" altLang="ru-RU" sz="2000" dirty="0"/>
              <a:t> </a:t>
            </a:r>
            <a:r>
              <a:rPr lang="en-US" altLang="en-US" sz="2000" dirty="0"/>
              <a:t>№</a:t>
            </a:r>
            <a:r>
              <a:rPr lang="en-US" altLang="ru-RU" sz="2000" dirty="0"/>
              <a:t> 400 (</a:t>
            </a:r>
            <a:r>
              <a:rPr lang="en-US" altLang="en-US" sz="2000" dirty="0" err="1"/>
              <a:t>Доктрина</a:t>
            </a:r>
            <a:r>
              <a:rPr lang="en-US" altLang="ru-RU" sz="2000" dirty="0"/>
              <a:t> </a:t>
            </a:r>
            <a:r>
              <a:rPr lang="en-US" altLang="en-US" sz="2000" dirty="0"/>
              <a:t>ИБ</a:t>
            </a:r>
            <a:r>
              <a:rPr lang="en-US" altLang="ru-RU" sz="2000" dirty="0"/>
              <a:t>, </a:t>
            </a:r>
            <a:r>
              <a:rPr lang="en-US" altLang="en-US" sz="2000" dirty="0" err="1"/>
              <a:t>полная</a:t>
            </a:r>
            <a:r>
              <a:rPr lang="en-US" altLang="ru-RU" sz="2000" dirty="0"/>
              <a:t> </a:t>
            </a:r>
            <a:r>
              <a:rPr lang="en-US" altLang="en-US" sz="2000" dirty="0" err="1"/>
              <a:t>версия</a:t>
            </a:r>
            <a:r>
              <a:rPr lang="en-US" altLang="ru-RU" sz="2000" dirty="0"/>
              <a:t>)</a:t>
            </a:r>
          </a:p>
          <a:p>
            <a:r>
              <a:rPr lang="en-US" altLang="ru-RU" sz="2000" dirty="0"/>
              <a:t>5. </a:t>
            </a:r>
            <a:r>
              <a:rPr lang="en-US" altLang="en-US" sz="2000" dirty="0" err="1"/>
              <a:t>Роскомнадзор</a:t>
            </a:r>
            <a:r>
              <a:rPr lang="en-US" altLang="ru-RU" sz="2000" dirty="0"/>
              <a:t> — </a:t>
            </a:r>
            <a:r>
              <a:rPr lang="en-US" altLang="en-US" sz="2000" dirty="0" err="1"/>
              <a:t>борьба</a:t>
            </a:r>
            <a:r>
              <a:rPr lang="en-US" altLang="ru-RU" sz="2000" dirty="0"/>
              <a:t> </a:t>
            </a:r>
            <a:r>
              <a:rPr lang="en-US" altLang="en-US" sz="2000" dirty="0"/>
              <a:t>с</a:t>
            </a:r>
            <a:r>
              <a:rPr lang="en-US" altLang="ru-RU" sz="2000" dirty="0"/>
              <a:t> </a:t>
            </a:r>
            <a:r>
              <a:rPr lang="en-US" altLang="en-US" sz="2000" dirty="0" err="1"/>
              <a:t>фейками</a:t>
            </a:r>
            <a:endParaRPr lang="en-US" alt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0"/>
            <a:ext cx="10515600" cy="1325563"/>
          </a:xfrm>
        </p:spPr>
        <p:txBody>
          <a:bodyPr/>
          <a:lstStyle/>
          <a:p>
            <a:r>
              <a:rPr lang="en-US" altLang="en-US"/>
              <a:t>Qr-</a:t>
            </a:r>
            <a:r>
              <a:rPr lang="ru-RU" altLang="en-US"/>
              <a:t>коды на источники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7500" lnSpcReduction="20000"/>
          </a:bodyPr>
          <a:lstStyle/>
          <a:p>
            <a:endParaRPr lang="ru-RU" altLang="en-US" dirty="0"/>
          </a:p>
          <a:p>
            <a:endParaRPr lang="ru-RU" altLang="en-US" dirty="0"/>
          </a:p>
          <a:p>
            <a:endParaRPr lang="ru-RU" altLang="en-US" dirty="0"/>
          </a:p>
          <a:p>
            <a:r>
              <a:rPr lang="en-US" altLang="ru-RU" dirty="0"/>
              <a:t> </a:t>
            </a:r>
            <a:r>
              <a:rPr lang="ru-RU" altLang="en-US" dirty="0"/>
              <a:t>       </a:t>
            </a:r>
          </a:p>
          <a:p>
            <a:r>
              <a:rPr lang="ru-RU" altLang="en-US" dirty="0"/>
              <a:t>            </a:t>
            </a:r>
            <a:endParaRPr lang="en-US" altLang="en-US" dirty="0"/>
          </a:p>
          <a:p>
            <a:r>
              <a:rPr lang="en-US" altLang="en-US" dirty="0"/>
              <a:t>	</a:t>
            </a:r>
            <a:r>
              <a:rPr lang="en-US" altLang="en-US" dirty="0" err="1"/>
              <a:t>Доктрина</a:t>
            </a:r>
            <a:r>
              <a:rPr lang="en-US" altLang="ru-RU" dirty="0"/>
              <a:t> </a:t>
            </a:r>
            <a:r>
              <a:rPr lang="en-US" altLang="en-US" dirty="0"/>
              <a:t>ИБ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                         </a:t>
            </a:r>
            <a:r>
              <a:rPr lang="en-US" altLang="en-US" dirty="0" err="1"/>
              <a:t>Уголовный</a:t>
            </a:r>
            <a:r>
              <a:rPr lang="en-US" altLang="ru-RU" dirty="0"/>
              <a:t> </a:t>
            </a:r>
            <a:r>
              <a:rPr lang="en-US" altLang="en-US" dirty="0" err="1"/>
              <a:t>кодекс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	</a:t>
            </a:r>
            <a:r>
              <a:rPr lang="en-US" altLang="en-US" dirty="0"/>
              <a:t>	ФЗ</a:t>
            </a:r>
            <a:r>
              <a:rPr lang="en-US" altLang="ru-RU" dirty="0"/>
              <a:t> </a:t>
            </a:r>
            <a:r>
              <a:rPr lang="en-US" altLang="en-US" dirty="0"/>
              <a:t>№</a:t>
            </a:r>
            <a:r>
              <a:rPr lang="en-US" altLang="ru-RU" dirty="0"/>
              <a:t>212 "</a:t>
            </a:r>
            <a:r>
              <a:rPr lang="en-US" altLang="en-US" dirty="0"/>
              <a:t>О</a:t>
            </a:r>
            <a:r>
              <a:rPr lang="en-US" altLang="ru-RU" dirty="0"/>
              <a:t> </a:t>
            </a:r>
            <a:r>
              <a:rPr lang="en-US" altLang="en-US" dirty="0" err="1"/>
              <a:t>фейках</a:t>
            </a:r>
            <a:r>
              <a:rPr lang="en-US" altLang="ru-RU" dirty="0"/>
              <a:t>"</a:t>
            </a:r>
          </a:p>
          <a:p>
            <a:endParaRPr lang="en-US" altLang="ru-RU" dirty="0"/>
          </a:p>
          <a:p>
            <a:endParaRPr lang="en-US" altLang="ru-RU" dirty="0"/>
          </a:p>
          <a:p>
            <a:endParaRPr lang="en-US" altLang="ru-RU" dirty="0"/>
          </a:p>
          <a:p>
            <a:endParaRPr lang="en-US" altLang="ru-RU" dirty="0"/>
          </a:p>
          <a:p>
            <a:r>
              <a:rPr lang="ru-RU" altLang="en-US" dirty="0"/>
              <a:t>  </a:t>
            </a:r>
          </a:p>
          <a:p>
            <a:endParaRPr lang="ru-RU" altLang="en-US" dirty="0"/>
          </a:p>
          <a:p>
            <a:pPr indent="457200"/>
            <a:r>
              <a:rPr lang="en-US" altLang="en-US" dirty="0"/>
              <a:t>ФЗ</a:t>
            </a:r>
            <a:r>
              <a:rPr lang="en-US" altLang="ru-RU" dirty="0"/>
              <a:t> </a:t>
            </a:r>
            <a:r>
              <a:rPr lang="en-US" altLang="en-US" dirty="0"/>
              <a:t>№</a:t>
            </a:r>
            <a:r>
              <a:rPr lang="en-US" altLang="ru-RU" dirty="0"/>
              <a:t>149 "</a:t>
            </a:r>
            <a:r>
              <a:rPr lang="en-US" altLang="en-US" dirty="0" err="1"/>
              <a:t>Об</a:t>
            </a:r>
            <a:r>
              <a:rPr lang="en-US" altLang="ru-RU" dirty="0"/>
              <a:t> </a:t>
            </a:r>
            <a:r>
              <a:rPr lang="en-US" altLang="en-US" dirty="0" err="1"/>
              <a:t>информации</a:t>
            </a:r>
            <a:r>
              <a:rPr lang="en-US" altLang="ru-RU" dirty="0"/>
              <a:t>"</a:t>
            </a:r>
            <a:r>
              <a:rPr lang="ru-RU" altLang="en-US" dirty="0"/>
              <a:t>    </a:t>
            </a:r>
            <a:r>
              <a:rPr lang="en-US" altLang="en-US" dirty="0" err="1"/>
              <a:t>Статья</a:t>
            </a:r>
            <a:r>
              <a:rPr lang="en-US" altLang="ru-RU" dirty="0"/>
              <a:t> 207.3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       </a:t>
            </a:r>
            <a:r>
              <a:rPr lang="en-US" altLang="en-US" dirty="0" err="1"/>
              <a:t>Статья</a:t>
            </a:r>
            <a:r>
              <a:rPr lang="en-US" altLang="ru-RU" dirty="0"/>
              <a:t> 207.5 </a:t>
            </a:r>
            <a:r>
              <a:rPr lang="en-US" altLang="en-US" dirty="0"/>
              <a:t>УК</a:t>
            </a:r>
            <a:r>
              <a:rPr lang="en-US" altLang="ru-RU" dirty="0"/>
              <a:t> </a:t>
            </a:r>
            <a:r>
              <a:rPr lang="en-US" altLang="en-US" dirty="0"/>
              <a:t>РФ</a:t>
            </a:r>
            <a:r>
              <a:rPr lang="ru-RU" altLang="en-US" dirty="0"/>
              <a:t>        </a:t>
            </a:r>
            <a:r>
              <a:rPr lang="en-US" altLang="en-US" dirty="0" err="1"/>
              <a:t>Роскомнадзор</a:t>
            </a:r>
            <a:endParaRPr lang="en-US" altLang="en-US" dirty="0"/>
          </a:p>
        </p:txBody>
      </p:sp>
      <p:pic>
        <p:nvPicPr>
          <p:cNvPr id="5" name="Изображение 4" descr="qrcod_d8y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446" y="1157605"/>
            <a:ext cx="2077085" cy="2077085"/>
          </a:xfrm>
          <a:prstGeom prst="rect">
            <a:avLst/>
          </a:prstGeom>
        </p:spPr>
      </p:pic>
      <p:pic>
        <p:nvPicPr>
          <p:cNvPr id="6" name="Изображение 5" descr="qrcod_d8y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385" y="1104900"/>
            <a:ext cx="2133600" cy="2133600"/>
          </a:xfrm>
          <a:prstGeom prst="rect">
            <a:avLst/>
          </a:prstGeom>
        </p:spPr>
      </p:pic>
      <p:pic>
        <p:nvPicPr>
          <p:cNvPr id="7" name="Изображение 6" descr="qrcod_d8y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409" y="3721100"/>
            <a:ext cx="2049145" cy="2049145"/>
          </a:xfrm>
          <a:prstGeom prst="rect">
            <a:avLst/>
          </a:prstGeom>
        </p:spPr>
      </p:pic>
      <p:pic>
        <p:nvPicPr>
          <p:cNvPr id="8" name="Изображение 7" descr="qrcod_d8yj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1446" y="3746474"/>
            <a:ext cx="2019300" cy="2019300"/>
          </a:xfrm>
          <a:prstGeom prst="rect">
            <a:avLst/>
          </a:prstGeom>
        </p:spPr>
      </p:pic>
      <p:pic>
        <p:nvPicPr>
          <p:cNvPr id="9" name="Изображение 8" descr="qrcod_d8z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4675" y="1104900"/>
            <a:ext cx="2149475" cy="2129790"/>
          </a:xfrm>
          <a:prstGeom prst="rect">
            <a:avLst/>
          </a:prstGeom>
        </p:spPr>
      </p:pic>
      <p:pic>
        <p:nvPicPr>
          <p:cNvPr id="10" name="Изображение 9" descr="qrcod_d8z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8659" y="3815054"/>
            <a:ext cx="1950720" cy="1950720"/>
          </a:xfrm>
          <a:prstGeom prst="rect">
            <a:avLst/>
          </a:prstGeom>
        </p:spPr>
      </p:pic>
      <p:pic>
        <p:nvPicPr>
          <p:cNvPr id="11" name="Изображение 10" descr="qrcod_d8z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150" y="3804285"/>
            <a:ext cx="1981200" cy="198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altLang="en-US"/>
          </a:p>
        </p:txBody>
      </p:sp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-190500" y="-185420"/>
            <a:ext cx="12382500" cy="7043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646</Words>
  <Application>Microsoft Office PowerPoint</Application>
  <PresentationFormat>Широкоэкранный</PresentationFormat>
  <Paragraphs>76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微软雅黑</vt:lpstr>
      <vt:lpstr>Arial</vt:lpstr>
      <vt:lpstr>Calibri</vt:lpstr>
      <vt:lpstr>Calibri Light</vt:lpstr>
      <vt:lpstr>Office Theme</vt:lpstr>
      <vt:lpstr>ФактЧекер — система проверки достоверности новостей</vt:lpstr>
      <vt:lpstr>Проблема</vt:lpstr>
      <vt:lpstr>Актуальность для РФ</vt:lpstr>
      <vt:lpstr>Какие функции выболняет ФактЧекер</vt:lpstr>
      <vt:lpstr>Защита от злоупотреблений (токены)</vt:lpstr>
      <vt:lpstr>Регистрация и роли</vt:lpstr>
      <vt:lpstr>Алгоритм проверки</vt:lpstr>
      <vt:lpstr>Пример работы:</vt:lpstr>
      <vt:lpstr>Соответствие политики РФ в области ИБ</vt:lpstr>
      <vt:lpstr>Выводы</vt:lpstr>
      <vt:lpstr>Уголовная ответственность за недостоверную информацию</vt:lpstr>
      <vt:lpstr>Краткое описание используемой информации в проекте</vt:lpstr>
      <vt:lpstr>Qr-коды на источники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UPGRADE</dc:creator>
  <cp:lastModifiedBy>Unicum_Student</cp:lastModifiedBy>
  <cp:revision>14</cp:revision>
  <dcterms:created xsi:type="dcterms:W3CDTF">2025-07-23T00:59:00Z</dcterms:created>
  <dcterms:modified xsi:type="dcterms:W3CDTF">2026-04-17T03:22:56Z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1049-12.2.0.23196</vt:lpwstr>
  </property>
  <property fmtid="{D5CDD505-2E9C-101B-9397-08002B2CF9AE}" pid="3" name="ICV">
    <vt:lpwstr>EC3A04F9C8A249A18134F43FD2F900D2_13</vt:lpwstr>
  </property>
</Properties>
</file>