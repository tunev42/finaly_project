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0" r:id="rId5"/>
    <p:sldId id="264" r:id="rId6"/>
    <p:sldId id="263" r:id="rId7"/>
    <p:sldId id="268" r:id="rId8"/>
    <p:sldId id="265" r:id="rId9"/>
    <p:sldId id="266" r:id="rId10"/>
    <p:sldId id="261" r:id="rId11"/>
    <p:sldId id="259" r:id="rId12"/>
    <p:sldId id="25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ru-RU" sz="216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дезинформации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100</c:v>
                </c:pt>
                <c:pt idx="2">
                  <c:v>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847753570"/>
        <c:axId val="257570147"/>
      </c:barChart>
      <c:catAx>
        <c:axId val="8477535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257570147"/>
        <c:crosses val="autoZero"/>
        <c:auto val="1"/>
        <c:lblAlgn val="ctr"/>
        <c:lblOffset val="100"/>
        <c:noMultiLvlLbl val="0"/>
      </c:catAx>
      <c:valAx>
        <c:axId val="2575701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84775357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ru-RU" sz="1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5b8ec7d-8db8-4dd3-9eed-b758913e5318}"/>
      </c:ext>
    </c:extLst>
  </c:chart>
  <c:spPr>
    <a:noFill/>
    <a:ln>
      <a:noFill/>
    </a:ln>
    <a:effectLst/>
  </c:spPr>
  <c:txPr>
    <a:bodyPr/>
    <a:lstStyle/>
    <a:p>
      <a:pPr>
        <a:defRPr lang="ru-RU" sz="1800">
          <a:solidFill>
            <a:schemeClr val="bg1"/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C76DE-8D1B-4D2E-986D-290180256597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A17E1-BE24-4137-8440-8AAD39900C5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ebp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781684"/>
            <a:ext cx="9144000" cy="839915"/>
          </a:xfrm>
        </p:spPr>
        <p:txBody>
          <a:bodyPr>
            <a:normAutofit fontScale="90000"/>
          </a:bodyPr>
          <a:lstStyle/>
          <a:p>
            <a:r>
              <a:rPr lang="en-US" sz="8890" dirty="0" smtClean="0">
                <a:solidFill>
                  <a:srgbClr val="FFFF00"/>
                </a:solidFill>
              </a:rPr>
              <a:t>Fact checker</a:t>
            </a:r>
            <a:endParaRPr lang="en-US" sz="8890" dirty="0" smtClean="0">
              <a:solidFill>
                <a:srgbClr val="FFFF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01151"/>
            <a:ext cx="9144000" cy="1655762"/>
          </a:xfrm>
        </p:spPr>
        <p:txBody>
          <a:bodyPr/>
          <a:lstStyle/>
          <a:p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Проверка</a:t>
            </a:r>
            <a:r>
              <a:rPr lang="en-US" altLang="ru-RU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фактов</a:t>
            </a:r>
            <a:r>
              <a:rPr lang="en-US" altLang="ru-RU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за</a:t>
            </a:r>
            <a:r>
              <a:rPr lang="en-US" altLang="ru-RU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секунду</a:t>
            </a:r>
            <a:endParaRPr lang="en-US" altLang="en-US" sz="4000" dirty="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Сделал: Тунёв Константин (ИИ-71)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sz="4800" b="1">
                <a:solidFill>
                  <a:srgbClr val="FFFF00"/>
                </a:solidFill>
              </a:rPr>
              <a:t>Проблема</a:t>
            </a:r>
            <a:endParaRPr lang="ru-RU" altLang="en-US" sz="4800" b="1">
              <a:solidFill>
                <a:srgbClr val="FFFF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4000">
                <a:solidFill>
                  <a:schemeClr val="bg1"/>
                </a:solidFill>
              </a:rPr>
              <a:t>Каждый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день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в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интернете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появляются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тысячи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фейковых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новостей</a:t>
            </a:r>
            <a:r>
              <a:rPr lang="en-US" altLang="ru-RU" sz="4000">
                <a:solidFill>
                  <a:schemeClr val="bg1"/>
                </a:solidFill>
              </a:rPr>
              <a:t>.</a:t>
            </a:r>
            <a:r>
              <a:rPr lang="ru-RU" altLang="en-US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Люди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им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верят</a:t>
            </a:r>
            <a:r>
              <a:rPr lang="en-US" altLang="ru-RU" sz="4000">
                <a:solidFill>
                  <a:schemeClr val="bg1"/>
                </a:solidFill>
              </a:rPr>
              <a:t>, </a:t>
            </a:r>
            <a:r>
              <a:rPr lang="en-US" altLang="en-US" sz="4000">
                <a:solidFill>
                  <a:schemeClr val="bg1"/>
                </a:solidFill>
              </a:rPr>
              <a:t>репостят</a:t>
            </a:r>
            <a:r>
              <a:rPr lang="en-US" altLang="ru-RU" sz="4000">
                <a:solidFill>
                  <a:schemeClr val="bg1"/>
                </a:solidFill>
              </a:rPr>
              <a:t>, </a:t>
            </a:r>
            <a:r>
              <a:rPr lang="en-US" altLang="en-US" sz="4000">
                <a:solidFill>
                  <a:schemeClr val="bg1"/>
                </a:solidFill>
              </a:rPr>
              <a:t>паникуют</a:t>
            </a:r>
            <a:r>
              <a:rPr lang="en-US" altLang="ru-RU" sz="4000">
                <a:solidFill>
                  <a:schemeClr val="bg1"/>
                </a:solidFill>
              </a:rPr>
              <a:t>.</a:t>
            </a:r>
            <a:endParaRPr lang="en-US" altLang="ru-RU" sz="4000">
              <a:solidFill>
                <a:schemeClr val="bg1"/>
              </a:solidFill>
            </a:endParaRPr>
          </a:p>
          <a:p>
            <a:r>
              <a:rPr lang="en-US" altLang="ru-RU" sz="4000">
                <a:solidFill>
                  <a:schemeClr val="bg1"/>
                </a:solidFill>
              </a:rPr>
              <a:t>+10 000 </a:t>
            </a:r>
            <a:r>
              <a:rPr lang="en-US" altLang="en-US" sz="4000">
                <a:solidFill>
                  <a:schemeClr val="bg1"/>
                </a:solidFill>
              </a:rPr>
              <a:t>фейков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в</a:t>
            </a:r>
            <a:r>
              <a:rPr lang="en-US" altLang="ru-RU" sz="4000">
                <a:solidFill>
                  <a:schemeClr val="bg1"/>
                </a:solidFill>
              </a:rPr>
              <a:t> </a:t>
            </a:r>
            <a:r>
              <a:rPr lang="en-US" altLang="en-US" sz="4000">
                <a:solidFill>
                  <a:schemeClr val="bg1"/>
                </a:solidFill>
              </a:rPr>
              <a:t>день</a:t>
            </a:r>
            <a:endParaRPr lang="en-US" alt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595" y="0"/>
            <a:ext cx="1225359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362585"/>
            <a:ext cx="10515600" cy="85217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FF00"/>
                </a:solidFill>
              </a:rPr>
              <a:t>Решение</a:t>
            </a:r>
            <a:endParaRPr lang="ru-RU" b="1" dirty="0" smtClean="0">
              <a:solidFill>
                <a:srgbClr val="FFFF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40410" y="1376680"/>
            <a:ext cx="10515600" cy="4411345"/>
          </a:xfrm>
        </p:spPr>
        <p:txBody>
          <a:bodyPr>
            <a:normAutofit lnSpcReduction="10000"/>
          </a:bodyPr>
          <a:lstStyle/>
          <a:p>
            <a:r>
              <a:rPr lang="en-US" altLang="ru-RU" sz="4000" dirty="0" smtClean="0">
                <a:solidFill>
                  <a:schemeClr val="bg1"/>
                </a:solidFill>
              </a:rPr>
              <a:t>Fact Checker — </a:t>
            </a:r>
            <a:r>
              <a:rPr lang="en-US" altLang="en-US" sz="4000" dirty="0" smtClean="0">
                <a:solidFill>
                  <a:schemeClr val="bg1"/>
                </a:solidFill>
              </a:rPr>
              <a:t>сервис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для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мгновенной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проверки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новостей</a:t>
            </a:r>
            <a:r>
              <a:rPr lang="ru-RU" altLang="en-US" sz="4000" dirty="0" smtClean="0">
                <a:solidFill>
                  <a:schemeClr val="bg1"/>
                </a:solidFill>
              </a:rPr>
              <a:t>.</a:t>
            </a:r>
            <a:endParaRPr lang="ru-RU" altLang="en-US" sz="4000" dirty="0" smtClean="0">
              <a:solidFill>
                <a:schemeClr val="bg1"/>
              </a:solidFill>
            </a:endParaRP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Как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работает</a:t>
            </a:r>
            <a:r>
              <a:rPr lang="en-US" altLang="ru-RU" sz="4000" dirty="0" smtClean="0">
                <a:solidFill>
                  <a:schemeClr val="bg1"/>
                </a:solidFill>
              </a:rPr>
              <a:t> (3 </a:t>
            </a:r>
            <a:r>
              <a:rPr lang="en-US" altLang="en-US" sz="4000" dirty="0" smtClean="0">
                <a:solidFill>
                  <a:schemeClr val="bg1"/>
                </a:solidFill>
              </a:rPr>
              <a:t>блока</a:t>
            </a:r>
            <a:r>
              <a:rPr lang="en-US" altLang="ru-RU" sz="4000" dirty="0" smtClean="0">
                <a:solidFill>
                  <a:schemeClr val="bg1"/>
                </a:solidFill>
              </a:rPr>
              <a:t>):</a:t>
            </a:r>
            <a:endParaRPr lang="en-US" altLang="ru-RU" sz="4000" dirty="0" smtClean="0">
              <a:solidFill>
                <a:schemeClr val="bg1"/>
              </a:solidFill>
            </a:endParaRP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Ввод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текста</a:t>
            </a:r>
            <a:r>
              <a:rPr lang="ru-RU" altLang="en-US" sz="4000" dirty="0" smtClean="0">
                <a:solidFill>
                  <a:schemeClr val="bg1"/>
                </a:solidFill>
              </a:rPr>
              <a:t>, </a:t>
            </a:r>
            <a:r>
              <a:rPr lang="en-US" altLang="ru-RU" sz="4000" dirty="0" smtClean="0">
                <a:solidFill>
                  <a:schemeClr val="bg1"/>
                </a:solidFill>
              </a:rPr>
              <a:t>API + </a:t>
            </a:r>
            <a:r>
              <a:rPr lang="en-US" altLang="en-US" sz="4000" dirty="0" smtClean="0">
                <a:solidFill>
                  <a:schemeClr val="bg1"/>
                </a:solidFill>
              </a:rPr>
              <a:t>база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источников</a:t>
            </a:r>
            <a:r>
              <a:rPr lang="ru-RU" altLang="en-US" sz="4000" dirty="0" smtClean="0">
                <a:solidFill>
                  <a:schemeClr val="bg1"/>
                </a:solidFill>
              </a:rPr>
              <a:t>, </a:t>
            </a:r>
            <a:r>
              <a:rPr lang="en-US" altLang="en-US" sz="4000" dirty="0" smtClean="0">
                <a:solidFill>
                  <a:schemeClr val="bg1"/>
                </a:solidFill>
              </a:rPr>
              <a:t>Вердикт</a:t>
            </a:r>
            <a:r>
              <a:rPr lang="en-US" altLang="ru-RU" sz="4000" dirty="0" smtClean="0">
                <a:solidFill>
                  <a:schemeClr val="bg1"/>
                </a:solidFill>
              </a:rPr>
              <a:t>: </a:t>
            </a:r>
            <a:r>
              <a:rPr lang="en-US" altLang="en-US" sz="4000" dirty="0" smtClean="0">
                <a:solidFill>
                  <a:schemeClr val="bg1"/>
                </a:solidFill>
              </a:rPr>
              <a:t>правда</a:t>
            </a:r>
            <a:r>
              <a:rPr lang="en-US" altLang="ru-RU" sz="4000" dirty="0" smtClean="0">
                <a:solidFill>
                  <a:schemeClr val="bg1"/>
                </a:solidFill>
              </a:rPr>
              <a:t> / </a:t>
            </a:r>
            <a:r>
              <a:rPr lang="en-US" altLang="en-US" sz="4000" dirty="0" smtClean="0">
                <a:solidFill>
                  <a:schemeClr val="bg1"/>
                </a:solidFill>
              </a:rPr>
              <a:t>фейк</a:t>
            </a:r>
            <a:endParaRPr lang="en-US" altLang="en-US" sz="4000" dirty="0" smtClean="0">
              <a:solidFill>
                <a:schemeClr val="bg1"/>
              </a:solidFill>
            </a:endParaRP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Источники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проверки</a:t>
            </a:r>
            <a:r>
              <a:rPr lang="en-US" altLang="ru-RU" sz="4000" dirty="0" smtClean="0">
                <a:solidFill>
                  <a:schemeClr val="bg1"/>
                </a:solidFill>
              </a:rPr>
              <a:t>:</a:t>
            </a:r>
            <a:endParaRPr lang="en-US" altLang="ru-RU" sz="4000" dirty="0" smtClean="0">
              <a:solidFill>
                <a:schemeClr val="bg1"/>
              </a:solidFill>
            </a:endParaRPr>
          </a:p>
          <a:p>
            <a:r>
              <a:rPr lang="en-US" altLang="en-US" sz="4000" dirty="0" smtClean="0">
                <a:solidFill>
                  <a:schemeClr val="bg1"/>
                </a:solidFill>
              </a:rPr>
              <a:t>ТАСС</a:t>
            </a:r>
            <a:r>
              <a:rPr lang="ru-RU" altLang="en-US" sz="4000" dirty="0" smtClean="0">
                <a:solidFill>
                  <a:schemeClr val="bg1"/>
                </a:solidFill>
              </a:rPr>
              <a:t> и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РИА</a:t>
            </a:r>
            <a:r>
              <a:rPr lang="en-US" altLang="ru-RU" sz="4000" dirty="0" smtClean="0">
                <a:solidFill>
                  <a:schemeClr val="bg1"/>
                </a:solidFill>
              </a:rPr>
              <a:t> </a:t>
            </a:r>
            <a:r>
              <a:rPr lang="en-US" altLang="en-US" sz="4000" dirty="0" smtClean="0">
                <a:solidFill>
                  <a:schemeClr val="bg1"/>
                </a:solidFill>
              </a:rPr>
              <a:t>Новости</a:t>
            </a:r>
            <a:endParaRPr lang="en-US" altLang="ru-RU" sz="40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</a:rPr>
              <a:t>Пример работы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Пользователь</a:t>
            </a:r>
            <a:r>
              <a:rPr lang="en-US" altLang="ru-RU">
                <a:solidFill>
                  <a:schemeClr val="bg1"/>
                </a:solidFill>
              </a:rPr>
              <a:t>:</a:t>
            </a:r>
            <a:r>
              <a:rPr lang="ru-RU" altLang="en-US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«</a:t>
            </a:r>
            <a:r>
              <a:rPr lang="en-US" altLang="en-US">
                <a:solidFill>
                  <a:schemeClr val="bg1"/>
                </a:solidFill>
              </a:rPr>
              <a:t>Человек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использует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только</a:t>
            </a:r>
            <a:r>
              <a:rPr lang="en-US" altLang="ru-RU">
                <a:solidFill>
                  <a:schemeClr val="bg1"/>
                </a:solidFill>
              </a:rPr>
              <a:t> 10% </a:t>
            </a:r>
            <a:r>
              <a:rPr lang="en-US" altLang="en-US">
                <a:solidFill>
                  <a:schemeClr val="bg1"/>
                </a:solidFill>
              </a:rPr>
              <a:t>мозга</a:t>
            </a:r>
            <a:r>
              <a:rPr lang="en-US" altLang="en-US">
                <a:solidFill>
                  <a:schemeClr val="bg1"/>
                </a:solidFill>
              </a:rPr>
              <a:t>»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ru-RU">
                <a:solidFill>
                  <a:schemeClr val="bg1"/>
                </a:solidFill>
              </a:rPr>
              <a:t>Fact Checker:</a:t>
            </a:r>
            <a:r>
              <a:rPr lang="ru-RU" altLang="en-US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Ложное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утверждение</a:t>
            </a:r>
            <a:endParaRPr lang="en-US" altLang="en-US">
              <a:solidFill>
                <a:schemeClr val="bg1"/>
              </a:solidFill>
            </a:endParaRPr>
          </a:p>
          <a:p>
            <a:pPr marL="0" indent="457200">
              <a:buNone/>
            </a:pPr>
            <a:r>
              <a:rPr lang="ru-RU" altLang="en-US">
                <a:solidFill>
                  <a:schemeClr val="bg1"/>
                </a:solidFill>
              </a:rPr>
              <a:t> 		</a:t>
            </a:r>
            <a:r>
              <a:rPr lang="en-US" altLang="en-US">
                <a:solidFill>
                  <a:schemeClr val="bg1"/>
                </a:solidFill>
              </a:rPr>
              <a:t>Достоверность</a:t>
            </a:r>
            <a:r>
              <a:rPr lang="en-US" altLang="ru-RU">
                <a:solidFill>
                  <a:schemeClr val="bg1"/>
                </a:solidFill>
              </a:rPr>
              <a:t>: 5%</a:t>
            </a:r>
            <a:endParaRPr lang="en-US" altLang="ru-RU">
              <a:solidFill>
                <a:schemeClr val="bg1"/>
              </a:solidFill>
            </a:endParaRPr>
          </a:p>
          <a:p>
            <a:pPr marL="0" indent="457200">
              <a:buNone/>
            </a:pPr>
            <a:r>
              <a:rPr lang="ru-RU" altLang="en-US">
                <a:solidFill>
                  <a:schemeClr val="bg1"/>
                </a:solidFill>
              </a:rPr>
              <a:t> 		</a:t>
            </a:r>
            <a:r>
              <a:rPr lang="en-US" altLang="en-US">
                <a:solidFill>
                  <a:schemeClr val="bg1"/>
                </a:solidFill>
              </a:rPr>
              <a:t>Источник</a:t>
            </a:r>
            <a:r>
              <a:rPr lang="en-US" altLang="ru-RU">
                <a:solidFill>
                  <a:schemeClr val="bg1"/>
                </a:solidFill>
              </a:rPr>
              <a:t>: </a:t>
            </a:r>
            <a:r>
              <a:rPr lang="en-US" altLang="en-US">
                <a:solidFill>
                  <a:schemeClr val="bg1"/>
                </a:solidFill>
              </a:rPr>
              <a:t>ТАСС</a:t>
            </a:r>
            <a:r>
              <a:rPr lang="en-US" altLang="ru-RU">
                <a:solidFill>
                  <a:schemeClr val="bg1"/>
                </a:solidFill>
              </a:rPr>
              <a:t> (</a:t>
            </a:r>
            <a:r>
              <a:rPr lang="en-US" altLang="en-US">
                <a:solidFill>
                  <a:schemeClr val="bg1"/>
                </a:solidFill>
              </a:rPr>
              <a:t>научное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опровержение</a:t>
            </a:r>
            <a:r>
              <a:rPr lang="en-US" altLang="ru-RU">
                <a:solidFill>
                  <a:schemeClr val="bg1"/>
                </a:solidFill>
              </a:rPr>
              <a:t>)</a:t>
            </a:r>
            <a:endParaRPr lang="en-US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353696"/>
            <a:ext cx="10515600" cy="841247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solidFill>
                  <a:srgbClr val="FFFF00"/>
                </a:solidFill>
              </a:rPr>
              <a:t>Актуальность</a:t>
            </a:r>
            <a:endParaRPr lang="en-US" altLang="en-US" b="1" dirty="0" smtClean="0">
              <a:solidFill>
                <a:srgbClr val="FFFF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1728470"/>
            <a:ext cx="10515600" cy="2745105"/>
          </a:xfrm>
        </p:spPr>
        <p:txBody>
          <a:bodyPr>
            <a:noAutofit/>
          </a:bodyPr>
          <a:lstStyle/>
          <a:p>
            <a:r>
              <a:rPr lang="en-US" altLang="en-US" sz="3600" dirty="0" smtClean="0">
                <a:solidFill>
                  <a:schemeClr val="bg1"/>
                </a:solidFill>
              </a:rPr>
              <a:t>Дезинформация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не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исчезнет</a:t>
            </a:r>
            <a:r>
              <a:rPr lang="en-US" altLang="ru-RU" sz="3600" dirty="0" smtClean="0">
                <a:solidFill>
                  <a:schemeClr val="bg1"/>
                </a:solidFill>
              </a:rPr>
              <a:t>. </a:t>
            </a:r>
            <a:r>
              <a:rPr lang="en-US" altLang="en-US" sz="3600" dirty="0" smtClean="0">
                <a:solidFill>
                  <a:schemeClr val="bg1"/>
                </a:solidFill>
              </a:rPr>
              <a:t>Каждый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год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количество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фейков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только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растёт</a:t>
            </a:r>
            <a:r>
              <a:rPr lang="en-US" altLang="ru-RU" sz="3600" dirty="0" smtClean="0">
                <a:solidFill>
                  <a:schemeClr val="bg1"/>
                </a:solidFill>
              </a:rPr>
              <a:t>.</a:t>
            </a:r>
            <a:endParaRPr lang="en-US" altLang="ru-RU" sz="3600" dirty="0" smtClean="0">
              <a:solidFill>
                <a:schemeClr val="bg1"/>
              </a:solidFill>
            </a:endParaRPr>
          </a:p>
          <a:p>
            <a:endParaRPr lang="en-US" altLang="ru-RU" sz="3600" dirty="0" smtClean="0">
              <a:solidFill>
                <a:schemeClr val="bg1"/>
              </a:solidFill>
            </a:endParaRPr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2153920" y="2696845"/>
          <a:ext cx="7076440" cy="4161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5400" b="1">
                <a:solidFill>
                  <a:srgbClr val="FFFF00"/>
                </a:solidFill>
              </a:rPr>
              <a:t>Технологии</a:t>
            </a:r>
            <a:endParaRPr lang="en-US" altLang="en-US" sz="5400" b="1">
              <a:solidFill>
                <a:srgbClr val="FFFF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 sz="3200">
                <a:solidFill>
                  <a:schemeClr val="bg1"/>
                </a:solidFill>
              </a:rPr>
              <a:t>API </a:t>
            </a:r>
            <a:r>
              <a:rPr lang="en-US" altLang="en-US" sz="3200">
                <a:solidFill>
                  <a:schemeClr val="bg1"/>
                </a:solidFill>
              </a:rPr>
              <a:t>проверки</a:t>
            </a:r>
            <a:r>
              <a:rPr lang="en-US" altLang="ru-RU" sz="3200">
                <a:solidFill>
                  <a:schemeClr val="bg1"/>
                </a:solidFill>
              </a:rPr>
              <a:t> (FactVerifiAI / Exa)</a:t>
            </a:r>
            <a:endParaRPr lang="en-US" altLang="ru-RU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</a:rPr>
              <a:t>База</a:t>
            </a:r>
            <a:r>
              <a:rPr lang="en-US" altLang="ru-RU" sz="3200">
                <a:solidFill>
                  <a:schemeClr val="bg1"/>
                </a:solidFill>
              </a:rPr>
              <a:t> </a:t>
            </a:r>
            <a:r>
              <a:rPr lang="en-US" altLang="en-US" sz="3200">
                <a:solidFill>
                  <a:schemeClr val="bg1"/>
                </a:solidFill>
              </a:rPr>
              <a:t>достоверных</a:t>
            </a:r>
            <a:r>
              <a:rPr lang="en-US" altLang="ru-RU" sz="3200">
                <a:solidFill>
                  <a:schemeClr val="bg1"/>
                </a:solidFill>
              </a:rPr>
              <a:t> </a:t>
            </a:r>
            <a:r>
              <a:rPr lang="en-US" altLang="en-US" sz="3200">
                <a:solidFill>
                  <a:schemeClr val="bg1"/>
                </a:solidFill>
              </a:rPr>
              <a:t>источников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</a:rPr>
              <a:t>Пользователи</a:t>
            </a:r>
            <a:r>
              <a:rPr lang="en-US" altLang="ru-RU" sz="3200">
                <a:solidFill>
                  <a:schemeClr val="bg1"/>
                </a:solidFill>
              </a:rPr>
              <a:t> + </a:t>
            </a:r>
            <a:r>
              <a:rPr lang="en-US" altLang="en-US" sz="3200">
                <a:solidFill>
                  <a:schemeClr val="bg1"/>
                </a:solidFill>
              </a:rPr>
              <a:t>лимиты</a:t>
            </a:r>
            <a:r>
              <a:rPr lang="en-US" altLang="ru-RU" sz="3200">
                <a:solidFill>
                  <a:schemeClr val="bg1"/>
                </a:solidFill>
              </a:rPr>
              <a:t> (5 </a:t>
            </a:r>
            <a:r>
              <a:rPr lang="en-US" altLang="en-US" sz="3200">
                <a:solidFill>
                  <a:schemeClr val="bg1"/>
                </a:solidFill>
              </a:rPr>
              <a:t>проверок</a:t>
            </a:r>
            <a:r>
              <a:rPr lang="en-US" altLang="ru-RU" sz="3200">
                <a:solidFill>
                  <a:schemeClr val="bg1"/>
                </a:solidFill>
              </a:rPr>
              <a:t>/</a:t>
            </a:r>
            <a:r>
              <a:rPr lang="en-US" altLang="en-US" sz="3200">
                <a:solidFill>
                  <a:schemeClr val="bg1"/>
                </a:solidFill>
              </a:rPr>
              <a:t>день</a:t>
            </a:r>
            <a:r>
              <a:rPr lang="en-US" altLang="ru-RU" sz="3200">
                <a:solidFill>
                  <a:schemeClr val="bg1"/>
                </a:solidFill>
              </a:rPr>
              <a:t>)</a:t>
            </a:r>
            <a:endParaRPr lang="en-US" altLang="ru-RU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</a:rPr>
              <a:t>Премиум</a:t>
            </a:r>
            <a:r>
              <a:rPr lang="en-US" altLang="ru-RU" sz="3200">
                <a:solidFill>
                  <a:schemeClr val="bg1"/>
                </a:solidFill>
              </a:rPr>
              <a:t> (</a:t>
            </a:r>
            <a:r>
              <a:rPr lang="en-US" altLang="en-US" sz="3200">
                <a:solidFill>
                  <a:schemeClr val="bg1"/>
                </a:solidFill>
              </a:rPr>
              <a:t>безлимит</a:t>
            </a:r>
            <a:r>
              <a:rPr lang="en-US" altLang="ru-RU" sz="3200">
                <a:solidFill>
                  <a:schemeClr val="bg1"/>
                </a:solidFill>
              </a:rPr>
              <a:t>, </a:t>
            </a:r>
            <a:r>
              <a:rPr lang="en-US" altLang="en-US" sz="3200">
                <a:solidFill>
                  <a:schemeClr val="bg1"/>
                </a:solidFill>
              </a:rPr>
              <a:t>приоритет</a:t>
            </a:r>
            <a:r>
              <a:rPr lang="en-US" altLang="ru-RU" sz="3200">
                <a:solidFill>
                  <a:schemeClr val="bg1"/>
                </a:solidFill>
              </a:rPr>
              <a:t>)</a:t>
            </a:r>
            <a:endParaRPr lang="en-US" altLang="ru-RU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</a:rPr>
              <a:t>История</a:t>
            </a:r>
            <a:r>
              <a:rPr lang="en-US" altLang="ru-RU" sz="3200">
                <a:solidFill>
                  <a:schemeClr val="bg1"/>
                </a:solidFill>
              </a:rPr>
              <a:t> </a:t>
            </a:r>
            <a:r>
              <a:rPr lang="en-US" altLang="en-US" sz="3200">
                <a:solidFill>
                  <a:schemeClr val="bg1"/>
                </a:solidFill>
              </a:rPr>
              <a:t>проверок</a:t>
            </a:r>
            <a:endParaRPr lang="en-US" altLang="en-US" sz="3200">
              <a:solidFill>
                <a:schemeClr val="bg1"/>
              </a:solidFill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6856095" y="3821430"/>
            <a:ext cx="5335905" cy="3036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sz="4800" b="1">
                <a:solidFill>
                  <a:srgbClr val="FFFF00"/>
                </a:solidFill>
              </a:rPr>
              <a:t>Целевая аудитория:</a:t>
            </a:r>
            <a:endParaRPr lang="ru-RU" altLang="en-US" sz="4800" b="1">
              <a:solidFill>
                <a:srgbClr val="FFFF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3600">
                <a:solidFill>
                  <a:schemeClr val="bg1"/>
                </a:solidFill>
              </a:rPr>
              <a:t>Проект создавался для </a:t>
            </a:r>
            <a:r>
              <a:rPr lang="en-US" altLang="en-US" sz="3600">
                <a:solidFill>
                  <a:schemeClr val="bg1"/>
                </a:solidFill>
              </a:rPr>
              <a:t>новостных</a:t>
            </a:r>
            <a:r>
              <a:rPr lang="en-US" altLang="ru-RU" sz="3600">
                <a:solidFill>
                  <a:schemeClr val="bg1"/>
                </a:solidFill>
              </a:rPr>
              <a:t> </a:t>
            </a:r>
            <a:r>
              <a:rPr lang="en-US" altLang="en-US" sz="3600">
                <a:solidFill>
                  <a:schemeClr val="bg1"/>
                </a:solidFill>
              </a:rPr>
              <a:t>каналов</a:t>
            </a:r>
            <a:r>
              <a:rPr lang="ru-RU" altLang="en-US" sz="3600">
                <a:solidFill>
                  <a:schemeClr val="bg1"/>
                </a:solidFill>
              </a:rPr>
              <a:t>. Такие как: «</a:t>
            </a:r>
            <a:r>
              <a:rPr lang="en-US" altLang="en-US" sz="3600">
                <a:solidFill>
                  <a:schemeClr val="bg1"/>
                </a:solidFill>
              </a:rPr>
              <a:t>Россия</a:t>
            </a:r>
            <a:r>
              <a:rPr lang="en-US" altLang="ru-RU" sz="3600">
                <a:solidFill>
                  <a:schemeClr val="bg1"/>
                </a:solidFill>
              </a:rPr>
              <a:t> 24</a:t>
            </a:r>
            <a:r>
              <a:rPr lang="ru-RU" altLang="en-US" sz="3600">
                <a:solidFill>
                  <a:schemeClr val="bg1"/>
                </a:solidFill>
              </a:rPr>
              <a:t>», </a:t>
            </a:r>
            <a:r>
              <a:rPr lang="en-US" altLang="en-US" sz="3600">
                <a:solidFill>
                  <a:schemeClr val="bg1"/>
                </a:solidFill>
              </a:rPr>
              <a:t>«Мир</a:t>
            </a:r>
            <a:r>
              <a:rPr lang="en-US" altLang="ru-RU" sz="3600">
                <a:solidFill>
                  <a:schemeClr val="bg1"/>
                </a:solidFill>
              </a:rPr>
              <a:t> 24</a:t>
            </a:r>
            <a:r>
              <a:rPr lang="en-US" altLang="en-US" sz="3600">
                <a:solidFill>
                  <a:schemeClr val="bg1"/>
                </a:solidFill>
              </a:rPr>
              <a:t>»</a:t>
            </a:r>
            <a:r>
              <a:rPr lang="ru-RU" sz="3600">
                <a:solidFill>
                  <a:schemeClr val="bg1"/>
                </a:solidFill>
              </a:rPr>
              <a:t>.</a:t>
            </a:r>
            <a:r>
              <a:rPr lang="en-US" altLang="ru-RU" sz="3600">
                <a:solidFill>
                  <a:schemeClr val="bg1"/>
                </a:solidFill>
              </a:rPr>
              <a:t> </a:t>
            </a:r>
            <a:r>
              <a:rPr lang="ru-RU" altLang="ru-RU" sz="3600">
                <a:solidFill>
                  <a:schemeClr val="bg1"/>
                </a:solidFill>
              </a:rPr>
              <a:t>А также для журналистов и обычных пользователей.</a:t>
            </a:r>
            <a:endParaRPr lang="ru-RU" altLang="ru-RU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b="1">
                <a:solidFill>
                  <a:srgbClr val="FFFF00"/>
                </a:solidFill>
              </a:rPr>
              <a:t>Аналоги</a:t>
            </a:r>
            <a:endParaRPr lang="ru-RU" altLang="en-US" b="1">
              <a:solidFill>
                <a:srgbClr val="FFFF00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147129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Прямые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конкуренты</a:t>
            </a:r>
            <a:r>
              <a:rPr lang="en-US" altLang="ru-RU">
                <a:solidFill>
                  <a:schemeClr val="bg1"/>
                </a:solidFill>
              </a:rPr>
              <a:t> (</a:t>
            </a:r>
            <a:r>
              <a:rPr lang="en-US" altLang="en-US">
                <a:solidFill>
                  <a:schemeClr val="bg1"/>
                </a:solidFill>
              </a:rPr>
              <a:t>российские</a:t>
            </a:r>
            <a:r>
              <a:rPr lang="en-US" altLang="ru-RU">
                <a:solidFill>
                  <a:schemeClr val="bg1"/>
                </a:solidFill>
              </a:rPr>
              <a:t>)</a:t>
            </a:r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endParaRPr lang="en-US" altLang="ru-RU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ru-RU">
              <a:solidFill>
                <a:schemeClr val="bg1"/>
              </a:solidFill>
            </a:endParaRPr>
          </a:p>
        </p:txBody>
      </p:sp>
      <p:graphicFrame>
        <p:nvGraphicFramePr>
          <p:cNvPr id="11" name="Таблица 10"/>
          <p:cNvGraphicFramePr/>
          <p:nvPr>
            <p:custDataLst>
              <p:tags r:id="rId2"/>
            </p:custDataLst>
          </p:nvPr>
        </p:nvGraphicFramePr>
        <p:xfrm>
          <a:off x="1130935" y="2456180"/>
          <a:ext cx="9814560" cy="312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520"/>
                <a:gridCol w="3271520"/>
                <a:gridCol w="3271520"/>
              </a:tblGrid>
              <a:tr h="5010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Название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Тип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Минусы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для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нас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875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«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Лапша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Медиа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»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Ручная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проверка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новостей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Медленно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люди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проверяют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вручную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876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«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Проверено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Медиа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»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Факт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чекинг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силами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редакции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Не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продают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проект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только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публикуют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отчёты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875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«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Верификатор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»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ОК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Встроенный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соцсеть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Работает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только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внутри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Одноклассников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38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FF00"/>
                </a:solidFill>
              </a:rPr>
              <a:t>Дорожная карта проекта:</a:t>
            </a:r>
            <a:endParaRPr lang="ru-RU" b="1" dirty="0" smtClean="0">
              <a:solidFill>
                <a:srgbClr val="FFFF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91870"/>
            <a:ext cx="10515600" cy="574929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1-2) </a:t>
            </a:r>
            <a:r>
              <a:rPr lang="en-US" altLang="en-US" dirty="0" smtClean="0">
                <a:solidFill>
                  <a:schemeClr val="bg1"/>
                </a:solidFill>
              </a:rPr>
              <a:t>Изучение</a:t>
            </a:r>
            <a:r>
              <a:rPr lang="en-US" altLang="ru-RU" dirty="0" smtClean="0">
                <a:solidFill>
                  <a:schemeClr val="bg1"/>
                </a:solidFill>
              </a:rPr>
              <a:t> API FactVerifiAI</a:t>
            </a:r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3) </a:t>
            </a:r>
            <a:r>
              <a:rPr lang="en-US" altLang="en-US" dirty="0" smtClean="0">
                <a:solidFill>
                  <a:schemeClr val="bg1"/>
                </a:solidFill>
              </a:rPr>
              <a:t>Сбор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базы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источников</a:t>
            </a:r>
            <a:endParaRPr lang="en-US" altLang="en-US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4-6) </a:t>
            </a:r>
            <a:r>
              <a:rPr lang="en-US" altLang="en-US" dirty="0" smtClean="0">
                <a:solidFill>
                  <a:schemeClr val="bg1"/>
                </a:solidFill>
              </a:rPr>
              <a:t>Определение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ЦА</a:t>
            </a:r>
            <a:r>
              <a:rPr lang="en-US" altLang="ru-RU" dirty="0" smtClean="0">
                <a:solidFill>
                  <a:schemeClr val="bg1"/>
                </a:solidFill>
              </a:rPr>
              <a:t> + </a:t>
            </a:r>
            <a:r>
              <a:rPr lang="en-US" altLang="en-US" dirty="0" smtClean="0">
                <a:solidFill>
                  <a:schemeClr val="bg1"/>
                </a:solidFill>
              </a:rPr>
              <a:t>прототип</a:t>
            </a:r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7-8) </a:t>
            </a:r>
            <a:r>
              <a:rPr lang="en-US" altLang="en-US" dirty="0" smtClean="0">
                <a:solidFill>
                  <a:schemeClr val="bg1"/>
                </a:solidFill>
              </a:rPr>
              <a:t>Тестирование</a:t>
            </a:r>
            <a:r>
              <a:rPr lang="en-US" altLang="ru-RU" dirty="0" smtClean="0">
                <a:solidFill>
                  <a:schemeClr val="bg1"/>
                </a:solidFill>
              </a:rPr>
              <a:t> + </a:t>
            </a:r>
            <a:r>
              <a:rPr lang="en-US" altLang="en-US" dirty="0" smtClean="0">
                <a:solidFill>
                  <a:schemeClr val="bg1"/>
                </a:solidFill>
              </a:rPr>
              <a:t>релиз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Готово</a:t>
            </a:r>
            <a:r>
              <a:rPr lang="en-US" altLang="ru-RU" dirty="0" smtClean="0">
                <a:solidFill>
                  <a:schemeClr val="bg1"/>
                </a:solidFill>
              </a:rPr>
              <a:t> (</a:t>
            </a:r>
            <a:r>
              <a:rPr lang="en-US" altLang="en-US" dirty="0" smtClean="0">
                <a:solidFill>
                  <a:schemeClr val="bg1"/>
                </a:solidFill>
              </a:rPr>
              <a:t>на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момент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презентации</a:t>
            </a:r>
            <a:r>
              <a:rPr lang="en-US" altLang="ru-RU" dirty="0" smtClean="0">
                <a:solidFill>
                  <a:schemeClr val="bg1"/>
                </a:solidFill>
              </a:rPr>
              <a:t>):</a:t>
            </a:r>
            <a:endParaRPr lang="en-US" altLang="ru-RU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Регистрация</a:t>
            </a:r>
            <a:endParaRPr lang="en-US" altLang="en-US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Проверка</a:t>
            </a:r>
            <a:r>
              <a:rPr lang="en-US" altLang="ru-RU" dirty="0" smtClean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фактов</a:t>
            </a:r>
            <a:endParaRPr lang="en-US" altLang="en-US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Лимиты</a:t>
            </a:r>
            <a:endParaRPr lang="en-US" altLang="en-US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Премиум</a:t>
            </a:r>
            <a:endParaRPr lang="en-US" altLang="en-US" dirty="0" smtClean="0">
              <a:solidFill>
                <a:schemeClr val="bg1"/>
              </a:solidFill>
            </a:endParaRPr>
          </a:p>
          <a:p>
            <a:r>
              <a:rPr lang="en-US" altLang="en-US" dirty="0" smtClean="0">
                <a:solidFill>
                  <a:schemeClr val="bg1"/>
                </a:solidFill>
              </a:rPr>
              <a:t>История</a:t>
            </a:r>
            <a:endParaRPr lang="en-US" alt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01168"/>
            <a:ext cx="10515600" cy="959739"/>
          </a:xfrm>
        </p:spPr>
        <p:txBody>
          <a:bodyPr>
            <a:normAutofit/>
          </a:bodyPr>
          <a:lstStyle/>
          <a:p>
            <a:r>
              <a:rPr lang="en-US" altLang="en-US" sz="5335" b="1" dirty="0">
                <a:solidFill>
                  <a:srgbClr val="FFFF00"/>
                </a:solidFill>
              </a:rPr>
              <a:t>Модель</a:t>
            </a:r>
            <a:r>
              <a:rPr lang="en-US" altLang="ru-RU" sz="5335" b="1" dirty="0">
                <a:solidFill>
                  <a:srgbClr val="FFFF00"/>
                </a:solidFill>
              </a:rPr>
              <a:t> </a:t>
            </a:r>
            <a:r>
              <a:rPr lang="en-US" altLang="en-US" sz="5335" b="1" dirty="0">
                <a:solidFill>
                  <a:srgbClr val="FFFF00"/>
                </a:solidFill>
              </a:rPr>
              <a:t>монетизации</a:t>
            </a:r>
            <a:r>
              <a:rPr lang="en-US" altLang="ru-RU" sz="5335" b="1" dirty="0">
                <a:solidFill>
                  <a:srgbClr val="FFFF00"/>
                </a:solidFill>
              </a:rPr>
              <a:t> </a:t>
            </a:r>
            <a:endParaRPr lang="en-US" altLang="ru-RU" sz="5335" b="1" dirty="0">
              <a:solidFill>
                <a:srgbClr val="FFFF00"/>
              </a:solidFill>
            </a:endParaRPr>
          </a:p>
        </p:txBody>
      </p:sp>
      <p:graphicFrame>
        <p:nvGraphicFramePr>
          <p:cNvPr id="5" name="Таблица 4"/>
          <p:cNvGraphicFramePr/>
          <p:nvPr>
            <p:custDataLst>
              <p:tags r:id="rId2"/>
            </p:custDataLst>
          </p:nvPr>
        </p:nvGraphicFramePr>
        <p:xfrm>
          <a:off x="1828800" y="1891030"/>
          <a:ext cx="8532495" cy="2597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596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B2G</a:t>
                      </a:r>
                      <a:endParaRPr lang="en-US" altLang="ru-RU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B2B</a:t>
                      </a:r>
                      <a:endParaRPr lang="en-US" altLang="ru-RU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B2C</a:t>
                      </a:r>
                      <a:endParaRPr lang="en-US" altLang="ru-RU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Государственные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каналы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Частные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каналы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Обычные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люди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740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Продажа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проекта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целиком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Продажа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проекта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целиком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Freemium +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подписка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Цена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индивидуально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Цена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индивидуально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От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 299 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₽</a:t>
                      </a:r>
                      <a:r>
                        <a:rPr lang="en-US" altLang="ru-RU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en-US" altLang="en-US">
                          <a:solidFill>
                            <a:schemeClr val="bg1"/>
                          </a:solidFill>
                        </a:rPr>
                        <a:t>мес</a:t>
                      </a:r>
                      <a:endParaRPr lang="en-US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  <a:alpha val="69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04485" y="365760"/>
            <a:ext cx="1229360" cy="603885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chemeClr val="bg1"/>
                </a:solidFill>
              </a:rPr>
              <a:t>Итог</a:t>
            </a:r>
            <a:endParaRPr lang="en-US" altLang="en-US" dirty="0" smtClean="0">
              <a:solidFill>
                <a:schemeClr val="bg1"/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340" y="2245360"/>
            <a:ext cx="3935730" cy="3935730"/>
          </a:xfrm>
        </p:spPr>
      </p:pic>
      <p:sp>
        <p:nvSpPr>
          <p:cNvPr id="3" name="Объект 2"/>
          <p:cNvSpPr>
            <a:spLocks noGrp="1"/>
          </p:cNvSpPr>
          <p:nvPr/>
        </p:nvSpPr>
        <p:spPr>
          <a:xfrm>
            <a:off x="838200" y="1157605"/>
            <a:ext cx="6849745" cy="447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ru-RU" sz="3600" dirty="0" smtClean="0">
                <a:solidFill>
                  <a:schemeClr val="bg1"/>
                </a:solidFill>
              </a:rPr>
              <a:t>Fact Checker — </a:t>
            </a:r>
            <a:r>
              <a:rPr lang="en-US" altLang="en-US" sz="3600" dirty="0" smtClean="0">
                <a:solidFill>
                  <a:schemeClr val="bg1"/>
                </a:solidFill>
              </a:rPr>
              <a:t>быстрая</a:t>
            </a:r>
            <a:r>
              <a:rPr lang="en-US" altLang="ru-RU" sz="3600" dirty="0" smtClean="0">
                <a:solidFill>
                  <a:schemeClr val="bg1"/>
                </a:solidFill>
              </a:rPr>
              <a:t>, </a:t>
            </a:r>
            <a:r>
              <a:rPr lang="en-US" altLang="en-US" sz="3600" dirty="0" smtClean="0">
                <a:solidFill>
                  <a:schemeClr val="bg1"/>
                </a:solidFill>
              </a:rPr>
              <a:t>удобная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и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бесплатная</a:t>
            </a:r>
            <a:r>
              <a:rPr lang="en-US" altLang="ru-RU" sz="3600" dirty="0" smtClean="0">
                <a:solidFill>
                  <a:schemeClr val="bg1"/>
                </a:solidFill>
              </a:rPr>
              <a:t> (</a:t>
            </a:r>
            <a:r>
              <a:rPr lang="en-US" altLang="en-US" sz="3600" dirty="0" smtClean="0">
                <a:solidFill>
                  <a:schemeClr val="bg1"/>
                </a:solidFill>
              </a:rPr>
              <a:t>до</a:t>
            </a:r>
            <a:r>
              <a:rPr lang="en-US" altLang="ru-RU" sz="3600" dirty="0" smtClean="0">
                <a:solidFill>
                  <a:schemeClr val="bg1"/>
                </a:solidFill>
              </a:rPr>
              <a:t> 5 </a:t>
            </a:r>
            <a:r>
              <a:rPr lang="en-US" altLang="en-US" sz="3600" dirty="0" smtClean="0">
                <a:solidFill>
                  <a:schemeClr val="bg1"/>
                </a:solidFill>
              </a:rPr>
              <a:t>проверок</a:t>
            </a:r>
            <a:r>
              <a:rPr lang="en-US" altLang="ru-RU" sz="3600" dirty="0" smtClean="0">
                <a:solidFill>
                  <a:schemeClr val="bg1"/>
                </a:solidFill>
              </a:rPr>
              <a:t>) </a:t>
            </a:r>
            <a:r>
              <a:rPr lang="en-US" altLang="en-US" sz="3600" dirty="0" smtClean="0">
                <a:solidFill>
                  <a:schemeClr val="bg1"/>
                </a:solidFill>
              </a:rPr>
              <a:t>проверка</a:t>
            </a:r>
            <a:r>
              <a:rPr lang="en-US" altLang="ru-RU" sz="3600" dirty="0" smtClean="0">
                <a:solidFill>
                  <a:schemeClr val="bg1"/>
                </a:solidFill>
              </a:rPr>
              <a:t> </a:t>
            </a:r>
            <a:r>
              <a:rPr lang="en-US" altLang="en-US" sz="3600" dirty="0" smtClean="0">
                <a:solidFill>
                  <a:schemeClr val="bg1"/>
                </a:solidFill>
              </a:rPr>
              <a:t>новостей</a:t>
            </a:r>
            <a:r>
              <a:rPr lang="ru-RU" altLang="en-US" sz="3600" dirty="0" smtClean="0">
                <a:solidFill>
                  <a:schemeClr val="bg1"/>
                </a:solidFill>
              </a:rPr>
              <a:t>.</a:t>
            </a:r>
            <a:endParaRPr lang="ru-RU" altLang="en-US" sz="3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772*246"/>
  <p:tag name="TABLE_ENDDRAG_RECT" val="89*193*772*246"/>
</p:tagLst>
</file>

<file path=ppt/tags/tag2.xml><?xml version="1.0" encoding="utf-8"?>
<p:tagLst xmlns:p="http://schemas.openxmlformats.org/presentationml/2006/main">
  <p:tag name="TABLE_ENDDRAG_ORIGIN_RECT" val="671*203"/>
  <p:tag name="TABLE_ENDDRAG_RECT" val="144*150*671*20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1681</Words>
  <Application>WPS Presentation</Application>
  <PresentationFormat>Широкоэкранный</PresentationFormat>
  <Paragraphs>121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Тема Office</vt:lpstr>
      <vt:lpstr>Fact checker</vt:lpstr>
      <vt:lpstr>Проблема</vt:lpstr>
      <vt:lpstr>Решение</vt:lpstr>
      <vt:lpstr>Пример работы</vt:lpstr>
      <vt:lpstr>Актуальность</vt:lpstr>
      <vt:lpstr>Технологии</vt:lpstr>
      <vt:lpstr>Целевая аудитория:</vt:lpstr>
      <vt:lpstr>Аналоги</vt:lpstr>
      <vt:lpstr>Дорожная карта проекта:</vt:lpstr>
      <vt:lpstr>Модель монетизации </vt:lpstr>
      <vt:lpstr>Итог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 checker</dc:title>
  <dc:creator>Учетная запись Майкрософт</dc:creator>
  <cp:lastModifiedBy>UPGRADE</cp:lastModifiedBy>
  <cp:revision>18</cp:revision>
  <dcterms:created xsi:type="dcterms:W3CDTF">2026-03-21T06:20:00Z</dcterms:created>
  <dcterms:modified xsi:type="dcterms:W3CDTF">2026-05-01T16:58:26Z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62FBDC26C2C44B25A74B774F0E813F4E_12</vt:lpwstr>
  </property>
  <property fmtid="{D5CDD505-2E9C-101B-9397-08002B2CF9AE}" pid="3" name="KSOProductBuildVer">
    <vt:lpwstr>1049-12.2.0.23196</vt:lpwstr>
  </property>
</Properties>
</file>